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1" r:id="rId1"/>
  </p:sldMasterIdLst>
  <p:notesMasterIdLst>
    <p:notesMasterId r:id="rId26"/>
  </p:notesMasterIdLst>
  <p:handoutMasterIdLst>
    <p:handoutMasterId r:id="rId27"/>
  </p:handoutMasterIdLst>
  <p:sldIdLst>
    <p:sldId id="1421" r:id="rId2"/>
    <p:sldId id="1420" r:id="rId3"/>
    <p:sldId id="1422" r:id="rId4"/>
    <p:sldId id="1427" r:id="rId5"/>
    <p:sldId id="1428" r:id="rId6"/>
    <p:sldId id="1429" r:id="rId7"/>
    <p:sldId id="1431" r:id="rId8"/>
    <p:sldId id="1454" r:id="rId9"/>
    <p:sldId id="1455" r:id="rId10"/>
    <p:sldId id="1458" r:id="rId11"/>
    <p:sldId id="1459" r:id="rId12"/>
    <p:sldId id="1466" r:id="rId13"/>
    <p:sldId id="1457" r:id="rId14"/>
    <p:sldId id="1460" r:id="rId15"/>
    <p:sldId id="1451" r:id="rId16"/>
    <p:sldId id="1424" r:id="rId17"/>
    <p:sldId id="1461" r:id="rId18"/>
    <p:sldId id="1463" r:id="rId19"/>
    <p:sldId id="1453" r:id="rId20"/>
    <p:sldId id="1467" r:id="rId21"/>
    <p:sldId id="1465" r:id="rId22"/>
    <p:sldId id="1468" r:id="rId23"/>
    <p:sldId id="1469" r:id="rId24"/>
    <p:sldId id="1123" r:id="rId25"/>
  </p:sldIdLst>
  <p:sldSz cx="9144000" cy="5143500" type="screen16x9"/>
  <p:notesSz cx="6858000" cy="9144000"/>
  <p:embeddedFontLst>
    <p:embeddedFont>
      <p:font typeface="Bebas Neue Bold" panose="020B0606020202050201" charset="0"/>
      <p:bold r:id="rId28"/>
    </p:embeddedFont>
    <p:embeddedFont>
      <p:font typeface="Cascadia Mono" panose="020B0609020000020004" pitchFamily="49" charset="0"/>
      <p:regular r:id="rId29"/>
      <p:bold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Raleway" pitchFamily="2" charset="0"/>
      <p:regular r:id="rId35"/>
      <p:bold r:id="rId36"/>
      <p:italic r:id="rId37"/>
      <p:boldItalic r:id="rId38"/>
    </p:embeddedFont>
    <p:embeddedFont>
      <p:font typeface="Roboto" panose="02000000000000000000" pitchFamily="2" charset="0"/>
      <p:regular r:id="rId39"/>
      <p:bold r:id="rId40"/>
      <p:italic r:id="rId41"/>
      <p:boldItalic r:id="rId42"/>
    </p:embeddedFont>
    <p:embeddedFont>
      <p:font typeface="Roboto Medium" panose="020000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oony777@yahoo.com" initials="s" lastIdx="2" clrIdx="0">
    <p:extLst>
      <p:ext uri="{19B8F6BF-5375-455C-9EA6-DF929625EA0E}">
        <p15:presenceInfo xmlns:p15="http://schemas.microsoft.com/office/powerpoint/2012/main" userId="878672da6c5f86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FFFFFF"/>
    <a:srgbClr val="FB7100"/>
    <a:srgbClr val="910000"/>
    <a:srgbClr val="F600CD"/>
    <a:srgbClr val="9DB0F9"/>
    <a:srgbClr val="F6C320"/>
    <a:srgbClr val="1CDCA8"/>
    <a:srgbClr val="9DF943"/>
    <a:srgbClr val="078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6323" autoAdjust="0"/>
  </p:normalViewPr>
  <p:slideViewPr>
    <p:cSldViewPr snapToGrid="0">
      <p:cViewPr varScale="1">
        <p:scale>
          <a:sx n="105" d="100"/>
          <a:sy n="105" d="100"/>
        </p:scale>
        <p:origin x="1027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147591-3862-2507-6BF0-658CC51BFE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C7654-C1A3-7162-C843-B426891BA6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56DF7-F905-15E1-EE11-BEC83BF879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A05DC-F541-4D9F-8B19-7F1F6A46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95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va">
    <p:bg>
      <p:bgPr>
        <a:gradFill>
          <a:gsLst>
            <a:gs pos="0">
              <a:srgbClr val="011732"/>
            </a:gs>
            <a:gs pos="100000">
              <a:srgbClr val="00439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934166A-F7EC-4ED8-7F4D-79D15379BA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1980" y="-23808"/>
            <a:ext cx="5077071" cy="50770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057B28-DF74-4570-B101-2C8E5381BCBF}"/>
              </a:ext>
            </a:extLst>
          </p:cNvPr>
          <p:cNvSpPr txBox="1"/>
          <p:nvPr userDrawn="1"/>
        </p:nvSpPr>
        <p:spPr>
          <a:xfrm>
            <a:off x="685941" y="304065"/>
            <a:ext cx="27510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r-HR" sz="16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Raleway" panose="020B0503030101060003" pitchFamily="34" charset="0"/>
              </a:rPr>
              <a:t>FAKULTET ORGANIZACIJE</a:t>
            </a:r>
          </a:p>
          <a:p>
            <a:pPr algn="ctr"/>
            <a:r>
              <a:rPr lang="hr-HR" sz="16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Raleway" panose="020B0503030101060003" pitchFamily="34" charset="0"/>
              </a:rPr>
              <a:t>I INFORMATIKE</a:t>
            </a:r>
            <a:endParaRPr lang="en-US" sz="1600" dirty="0">
              <a:solidFill>
                <a:schemeClr val="bg1"/>
              </a:soli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Raleway" panose="020B05030301010600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F4964-3757-45DC-86B5-9F46C8AFFE15}"/>
              </a:ext>
            </a:extLst>
          </p:cNvPr>
          <p:cNvSpPr txBox="1"/>
          <p:nvPr userDrawn="1"/>
        </p:nvSpPr>
        <p:spPr>
          <a:xfrm>
            <a:off x="625025" y="1075857"/>
            <a:ext cx="2872902" cy="2314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hr-HR" sz="55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Bebas Neue Bold" panose="020B0606020202050201" pitchFamily="34" charset="0"/>
              </a:rPr>
              <a:t>RAZVOJ</a:t>
            </a:r>
          </a:p>
          <a:p>
            <a:pPr algn="ctr">
              <a:lnSpc>
                <a:spcPts val="5700"/>
              </a:lnSpc>
            </a:pPr>
            <a:r>
              <a:rPr lang="hr-HR" sz="55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Bebas Neue Bold" panose="020B0606020202050201" pitchFamily="34" charset="0"/>
              </a:rPr>
              <a:t>RAČUNALNIH</a:t>
            </a:r>
          </a:p>
          <a:p>
            <a:pPr algn="ctr">
              <a:lnSpc>
                <a:spcPts val="5700"/>
              </a:lnSpc>
            </a:pPr>
            <a:r>
              <a:rPr lang="hr-HR" sz="55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Bebas Neue Bold" panose="020B0606020202050201" pitchFamily="34" charset="0"/>
              </a:rPr>
              <a:t>IGARA</a:t>
            </a:r>
            <a:endParaRPr lang="en-US" sz="5500" dirty="0">
              <a:solidFill>
                <a:schemeClr val="bg1"/>
              </a:solidFill>
              <a:effectLst>
                <a:outerShdw blurRad="50800" dist="63500" dir="2700000" algn="tl" rotWithShape="0">
                  <a:prstClr val="black">
                    <a:alpha val="20000"/>
                  </a:prstClr>
                </a:outerShdw>
              </a:effectLst>
              <a:latin typeface="Bebas Neue Bold" panose="020B0606020202050201" pitchFamily="34" charset="0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74A43F49-8971-41FE-ADB0-6D0E5315CF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443" y="3430665"/>
            <a:ext cx="1271048" cy="8786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C208AE-4F2E-4189-AA8D-6E4878EFDDEB}"/>
              </a:ext>
            </a:extLst>
          </p:cNvPr>
          <p:cNvSpPr txBox="1"/>
          <p:nvPr userDrawn="1"/>
        </p:nvSpPr>
        <p:spPr>
          <a:xfrm>
            <a:off x="841428" y="4495801"/>
            <a:ext cx="24400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r-HR" sz="16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Raleway" panose="020B0503030101060003" pitchFamily="34" charset="0"/>
              </a:rPr>
              <a:t>NASTAVNI MATERIJALI</a:t>
            </a:r>
            <a:endParaRPr lang="en-US" sz="1600" dirty="0">
              <a:solidFill>
                <a:schemeClr val="bg1"/>
              </a:soli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Raleway" panose="020B05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11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n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C8FA2B1-B6B2-455F-B446-59E651A80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952019"/>
            <a:ext cx="9144000" cy="5675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ts val="4500"/>
              </a:lnSpc>
              <a:defRPr sz="4500" b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bas Neue Bold" panose="020B0606020202050201" pitchFamily="34" charset="0"/>
              </a:defRPr>
            </a:lvl1pPr>
          </a:lstStyle>
          <a:p>
            <a:r>
              <a:rPr lang="hr-HR" noProof="0" dirty="0"/>
              <a:t>NASLOV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15E1AF-F51F-4DF8-A289-B034E1727E1D}"/>
              </a:ext>
            </a:extLst>
          </p:cNvPr>
          <p:cNvSpPr txBox="1"/>
          <p:nvPr userDrawn="1"/>
        </p:nvSpPr>
        <p:spPr>
          <a:xfrm>
            <a:off x="0" y="407194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6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Raleway" panose="020B0503030101060003" pitchFamily="34" charset="0"/>
              </a:rPr>
              <a:t>FAKULTET ORGANIZACIJE I INFORMATIKE</a:t>
            </a:r>
            <a:endParaRPr lang="en-US" sz="1600" dirty="0">
              <a:solidFill>
                <a:schemeClr val="bg1"/>
              </a:soli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Raleway" panose="020B05030301010600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83580-AE43-4A11-B401-899D70E50E87}"/>
              </a:ext>
            </a:extLst>
          </p:cNvPr>
          <p:cNvSpPr txBox="1"/>
          <p:nvPr userDrawn="1"/>
        </p:nvSpPr>
        <p:spPr>
          <a:xfrm>
            <a:off x="0" y="449580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6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Raleway" panose="020B0503030101060003" pitchFamily="34" charset="0"/>
              </a:rPr>
              <a:t>RAZVOJ RAČUNALNIH IGARA</a:t>
            </a:r>
            <a:endParaRPr lang="en-US" sz="1600" dirty="0">
              <a:solidFill>
                <a:schemeClr val="bg1"/>
              </a:soli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Raleway" panose="020B0503030101060003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9D6ED4-3890-4524-86C9-50CE94AA58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4795"/>
            <a:ext cx="9143999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defRPr>
            </a:lvl1pPr>
          </a:lstStyle>
          <a:p>
            <a:pPr lvl="0"/>
            <a:r>
              <a:rPr lang="hr-HR" dirty="0"/>
              <a:t>Podnaslov</a:t>
            </a:r>
          </a:p>
        </p:txBody>
      </p:sp>
    </p:spTree>
    <p:extLst>
      <p:ext uri="{BB962C8B-B14F-4D97-AF65-F5344CB8AC3E}">
        <p14:creationId xmlns:p14="http://schemas.microsoft.com/office/powerpoint/2010/main" val="17575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083111B-3B5C-443D-9E52-923C7AB8E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00" y="616607"/>
            <a:ext cx="8358000" cy="522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358775">
              <a:lnSpc>
                <a:spcPct val="100000"/>
              </a:lnSpc>
              <a:tabLst/>
              <a:defRPr sz="2200" b="1">
                <a:solidFill>
                  <a:srgbClr val="44546A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FBDB4F-503E-DE02-8608-BCA3E1B2235C}"/>
              </a:ext>
            </a:extLst>
          </p:cNvPr>
          <p:cNvSpPr txBox="1"/>
          <p:nvPr userDrawn="1"/>
        </p:nvSpPr>
        <p:spPr>
          <a:xfrm>
            <a:off x="626737" y="199129"/>
            <a:ext cx="31582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r-HR" sz="1200" dirty="0">
                <a:solidFill>
                  <a:srgbClr val="44546A"/>
                </a:solidFill>
                <a:effectLst/>
                <a:latin typeface="Roboto Medium" panose="02000000000000000000" pitchFamily="2" charset="0"/>
                <a:ea typeface="Roboto Medium" panose="02000000000000000000" pitchFamily="2" charset="0"/>
              </a:rPr>
              <a:t>FAKULTET ORGANIZACIJE I INFORMATIKE</a:t>
            </a:r>
            <a:endParaRPr lang="en-US" sz="1200" dirty="0">
              <a:solidFill>
                <a:srgbClr val="44546A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A076E-EB43-276D-4C8B-D5E9CB2C7A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7" y="214313"/>
            <a:ext cx="397669" cy="2796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DAD633-28BE-F3E3-593C-EC320355336C}"/>
              </a:ext>
            </a:extLst>
          </p:cNvPr>
          <p:cNvSpPr txBox="1"/>
          <p:nvPr userDrawn="1"/>
        </p:nvSpPr>
        <p:spPr>
          <a:xfrm>
            <a:off x="4805464" y="199128"/>
            <a:ext cx="4100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hr-HR" sz="1200" dirty="0">
                <a:solidFill>
                  <a:srgbClr val="44546A"/>
                </a:solidFill>
                <a:effectLst/>
                <a:latin typeface="Roboto Medium" panose="02000000000000000000" pitchFamily="2" charset="0"/>
                <a:ea typeface="Roboto Medium" panose="02000000000000000000" pitchFamily="2" charset="0"/>
              </a:rPr>
              <a:t>RAZVOJ RAČUNALNIH IGARA </a:t>
            </a:r>
            <a:fld id="{FF42FDE6-ED60-4005-9DEE-2C0DAB8AD57F}" type="slidenum">
              <a:rPr lang="hr-HR" sz="1200" smtClean="0">
                <a:solidFill>
                  <a:srgbClr val="44546A"/>
                </a:solidFill>
                <a:effectLst/>
                <a:latin typeface="Roboto Medium" panose="02000000000000000000" pitchFamily="2" charset="0"/>
                <a:ea typeface="Roboto Medium" panose="02000000000000000000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en-US" sz="1200" dirty="0">
              <a:solidFill>
                <a:srgbClr val="44546A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03F3B-3D2C-4BA7-8161-CBFCA6EC3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8358000" cy="3605836"/>
          </a:xfrm>
          <a:prstGeom prst="rect">
            <a:avLst/>
          </a:prstGeom>
        </p:spPr>
        <p:txBody>
          <a:bodyPr/>
          <a:lstStyle>
            <a:lvl1pPr marL="269875" indent="-269875" defTabSz="3587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>
                <a:solidFill>
                  <a:srgbClr val="44546A"/>
                </a:solidFill>
              </a:defRPr>
            </a:lvl1pPr>
            <a:lvl2pPr marL="539750" indent="-269875" defTabSz="3587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>
                <a:solidFill>
                  <a:srgbClr val="44546A"/>
                </a:solidFill>
              </a:defRPr>
            </a:lvl2pPr>
            <a:lvl3pPr marL="809625" indent="-269875" defTabSz="3587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>
                <a:solidFill>
                  <a:srgbClr val="44546A"/>
                </a:solidFill>
              </a:defRPr>
            </a:lvl3pPr>
            <a:lvl4pPr marL="1079500" indent="-269875" defTabSz="3587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>
                <a:solidFill>
                  <a:srgbClr val="44546A"/>
                </a:solidFill>
              </a:defRPr>
            </a:lvl4pPr>
            <a:lvl5pPr marL="1341438" indent="-261938" defTabSz="3587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>
                <a:solidFill>
                  <a:srgbClr val="44546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3645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70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ssetstore.unity.com/packages/essentials/starter-assets-firstperson-updates-in-new-charactercontroller-pa-19652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ity3d.com/ScriptReference/MonoBehaviour.html" TargetMode="External"/><Relationship Id="rId2" Type="http://schemas.openxmlformats.org/officeDocument/2006/relationships/hyperlink" Target="https://docs.unity3d.com/ScriptReference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39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E4B09A5-3423-4059-B993-CF6E7FC1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Projectiles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BD7B04-6ED7-410F-A58C-65060C1FE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5026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AA6A42-B553-4C05-9053-F48A26D4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Unity projekta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DC3056-6A93-4F7A-9A13-F05074F245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39"/>
            <a:ext cx="8358000" cy="3727117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Font typeface="Arial"/>
              <a:buNone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Osnovne postavke: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Predložak – </a:t>
            </a: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Universal 3D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Najnovija verzija Unityja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Ime projekta –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Projectiles</a:t>
            </a:r>
            <a:endParaRPr lang="hr-HR" sz="1600" b="1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Lokacija na disku – po želji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B24A5F-C894-0DC4-B197-D9B389012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873" y="1867831"/>
            <a:ext cx="5015127" cy="26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2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B6EF-5CFE-DD20-8D47-AF422018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DEF587-AEBF-74FF-B104-2736C2DE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Dodavanje Starter Assets i Cinemachine    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D38536-333D-B37C-45C8-C96A0CA8B3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39"/>
            <a:ext cx="8358000" cy="3727117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>
                <a:solidFill>
                  <a:srgbClr val="0780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https://assetstore.unity.com/packages/essentials/starter-assets-firstperson-updates-in-new-charactercontroller-pa-196525</a:t>
            </a:r>
            <a:r>
              <a:rPr lang="hr-HR" dirty="0"/>
              <a:t>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Otvorite ovaj link, logirajte se sa svojim </a:t>
            </a:r>
            <a:r>
              <a:rPr lang="hr-HR" b="1" dirty="0"/>
              <a:t>Unity accountom</a:t>
            </a:r>
            <a:r>
              <a:rPr lang="hr-HR" dirty="0"/>
              <a:t>, kliknite na </a:t>
            </a:r>
            <a:r>
              <a:rPr lang="hr-HR" b="1" dirty="0"/>
              <a:t>Add to My Assets</a:t>
            </a:r>
          </a:p>
          <a:p>
            <a:pPr defTabSz="357188"/>
            <a:r>
              <a:rPr lang="hr-HR" dirty="0"/>
              <a:t>I onda u </a:t>
            </a:r>
            <a:r>
              <a:rPr lang="hr-HR" b="1" dirty="0"/>
              <a:t>Unityiju</a:t>
            </a:r>
            <a:r>
              <a:rPr lang="hr-HR" dirty="0"/>
              <a:t>, idete na </a:t>
            </a:r>
            <a:r>
              <a:rPr lang="hr-HR" b="1" dirty="0"/>
              <a:t>Window &gt; Package Manager</a:t>
            </a:r>
            <a:r>
              <a:rPr lang="hr-HR" dirty="0"/>
              <a:t>...i odabere iz padajućeg izbornika gore </a:t>
            </a:r>
            <a:r>
              <a:rPr lang="hr-HR" b="1" dirty="0"/>
              <a:t>My Assets </a:t>
            </a:r>
            <a:r>
              <a:rPr lang="hr-HR" dirty="0"/>
              <a:t>i pronađete ovaj paket i kliknete na </a:t>
            </a:r>
            <a:r>
              <a:rPr lang="hr-HR" b="1" dirty="0"/>
              <a:t>Install</a:t>
            </a:r>
          </a:p>
          <a:p>
            <a:pPr defTabSz="357188"/>
            <a:r>
              <a:rPr lang="hr-HR" dirty="0"/>
              <a:t>I u projekt ćete dodati Starter Assets 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Dodavanje Cinemachine: </a:t>
            </a:r>
          </a:p>
          <a:p>
            <a:pPr defTabSz="357188"/>
            <a:r>
              <a:rPr lang="hr-HR" dirty="0"/>
              <a:t>Dakle u </a:t>
            </a:r>
            <a:r>
              <a:rPr lang="hr-HR" b="1" dirty="0"/>
              <a:t>Package Manageru</a:t>
            </a:r>
            <a:r>
              <a:rPr lang="hr-HR" dirty="0"/>
              <a:t>, idete na </a:t>
            </a:r>
            <a:r>
              <a:rPr lang="hr-HR" b="1" dirty="0"/>
              <a:t>Unity Registry </a:t>
            </a:r>
            <a:r>
              <a:rPr lang="hr-HR" dirty="0"/>
              <a:t>pakete i instalirate paket </a:t>
            </a:r>
            <a:r>
              <a:rPr lang="hr-HR" b="1" dirty="0"/>
              <a:t>Cinemachine</a:t>
            </a:r>
          </a:p>
          <a:p>
            <a:pPr defTabSz="357188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950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61FF-FDCE-0E10-A97F-6889F2FF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2CBA36-6426-B1C9-E3A5-063B5B9B1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kamere koja prati igrača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58B7F6-9EB6-0055-123E-71B4EBEC7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492162" cy="3605836"/>
          </a:xfrm>
        </p:spPr>
        <p:txBody>
          <a:bodyPr/>
          <a:lstStyle/>
          <a:p>
            <a:pPr defTabSz="357188"/>
            <a:endParaRPr lang="hr-HR" dirty="0"/>
          </a:p>
          <a:p>
            <a:pPr defTabSz="357188"/>
            <a:endParaRPr lang="hr-HR" dirty="0"/>
          </a:p>
          <a:p>
            <a:pPr defTabSz="357188"/>
            <a:endParaRPr lang="hr-H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D513B9-6CB4-80BB-3F04-7F742119D8E1}"/>
              </a:ext>
            </a:extLst>
          </p:cNvPr>
          <p:cNvSpPr txBox="1"/>
          <p:nvPr/>
        </p:nvSpPr>
        <p:spPr>
          <a:xfrm>
            <a:off x="500743" y="1284514"/>
            <a:ext cx="60742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Font typeface="Arial"/>
              <a:buNone/>
            </a:pPr>
            <a:r>
              <a:rPr lang="hr-HR" sz="1400" dirty="0">
                <a:latin typeface="Roboto"/>
                <a:ea typeface="Roboto"/>
                <a:cs typeface="Roboto"/>
                <a:sym typeface="Roboto"/>
              </a:rPr>
              <a:t>Kreiranje objekta: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400" dirty="0">
                <a:latin typeface="Roboto"/>
                <a:ea typeface="Roboto"/>
                <a:cs typeface="Roboto"/>
                <a:sym typeface="Roboto"/>
              </a:rPr>
              <a:t>Prozor </a:t>
            </a:r>
            <a:r>
              <a:rPr lang="hr-HR" sz="1400" b="1" dirty="0">
                <a:latin typeface="Roboto"/>
                <a:ea typeface="Roboto"/>
                <a:cs typeface="Roboto"/>
                <a:sym typeface="Roboto"/>
              </a:rPr>
              <a:t>Assets</a:t>
            </a:r>
            <a:r>
              <a:rPr lang="hr-HR" sz="1400" dirty="0">
                <a:latin typeface="Roboto"/>
                <a:ea typeface="Roboto"/>
                <a:cs typeface="Roboto"/>
                <a:sym typeface="Roboto"/>
              </a:rPr>
              <a:t> – dvostruki  odabir mape </a:t>
            </a:r>
            <a:r>
              <a:rPr lang="hr-HR" sz="1400" b="1" dirty="0">
                <a:latin typeface="Roboto"/>
                <a:ea typeface="Roboto"/>
                <a:cs typeface="Roboto"/>
                <a:sym typeface="Roboto"/>
              </a:rPr>
              <a:t>StarterAssets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FirstPersonController &gt;  Prefabs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Povucite asset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PlayerFollowCamera</a:t>
            </a: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 u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hijerarhiju </a:t>
            </a: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endParaRPr lang="hr-HR" sz="14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6B9B42-E2F8-819E-F3AA-909D4AE28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0" y="2735527"/>
            <a:ext cx="901319" cy="999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1F0FFE-7EE3-6DD3-41B9-2FEF6B1B4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39" y="2735527"/>
            <a:ext cx="880221" cy="10629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CEAF09-4DAF-3AA8-5D55-7EA10FFDF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172" y="2687045"/>
            <a:ext cx="880221" cy="11113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376576-F740-CF12-6791-D137F07CD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804" y="2735527"/>
            <a:ext cx="880221" cy="10951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BD6C53-25BB-9939-4941-9B71B4FC1E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254" y="1022179"/>
            <a:ext cx="3419952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54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CA84F-8576-B890-7A5F-49AD6910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C8575B-9148-AFE1-64CD-0B3CC4D8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podloge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E475A2-F9CD-F139-91B0-977C2BA0E1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39507"/>
            <a:ext cx="4534601" cy="380336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Želimo da igrač stoji na podlozi, to činimo na sljedeći način: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Pozicioniramo se na prozor </a:t>
            </a:r>
            <a:r>
              <a:rPr lang="hr-HR" b="1" dirty="0"/>
              <a:t>Hijerarhije  </a:t>
            </a:r>
          </a:p>
          <a:p>
            <a:pPr defTabSz="357188"/>
            <a:r>
              <a:rPr lang="hr-HR" dirty="0"/>
              <a:t>Pritisnemo desni klik i odaberemo </a:t>
            </a:r>
            <a:r>
              <a:rPr lang="hr-HR" b="1" dirty="0"/>
              <a:t>3D Object </a:t>
            </a:r>
          </a:p>
          <a:p>
            <a:pPr defTabSz="357188"/>
            <a:r>
              <a:rPr lang="hr-HR" b="1" dirty="0"/>
              <a:t>Plane </a:t>
            </a:r>
          </a:p>
          <a:p>
            <a:pPr defTabSz="357188"/>
            <a:r>
              <a:rPr lang="hr-HR" dirty="0"/>
              <a:t>Preimenujemo u </a:t>
            </a:r>
            <a:r>
              <a:rPr lang="hr-HR" b="1" dirty="0"/>
              <a:t>Podloga </a:t>
            </a:r>
          </a:p>
          <a:p>
            <a:pPr defTabSz="357188"/>
            <a:endParaRPr lang="hr-H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6821B7-4BF6-5776-1DD2-D5B5D9B84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436" y="1410479"/>
            <a:ext cx="3467584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74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9B76-A97A-5238-CDED-A33349C2C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E8005B-ED67-89FD-B903-31DB070C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Podešavanje scene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EF32CA-662E-846C-1F22-F990A6625F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1" y="1156939"/>
            <a:ext cx="5260313" cy="3727117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Gledajući scenu primjećujemo da je ona premala, pa povećamo scenu promjenom </a:t>
            </a:r>
            <a:r>
              <a:rPr lang="hr-HR" b="1" dirty="0"/>
              <a:t>Scale</a:t>
            </a:r>
            <a:r>
              <a:rPr lang="hr-HR" dirty="0"/>
              <a:t> vrijednosti. 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Također primjećujemo da je scena preširoka  pa promijenimo  i to: </a:t>
            </a:r>
          </a:p>
          <a:p>
            <a:pPr defTabSz="357188">
              <a:buFontTx/>
              <a:buChar char="-"/>
            </a:pPr>
            <a:r>
              <a:rPr lang="hr-HR" dirty="0"/>
              <a:t>Pozicioniramo se na </a:t>
            </a:r>
            <a:r>
              <a:rPr lang="hr-HR" b="1" dirty="0"/>
              <a:t>Directional Light</a:t>
            </a:r>
          </a:p>
          <a:p>
            <a:pPr defTabSz="357188">
              <a:buFontTx/>
              <a:buChar char="-"/>
            </a:pPr>
            <a:r>
              <a:rPr lang="hr-HR" dirty="0"/>
              <a:t>Otvorimo dodatni izbornik </a:t>
            </a:r>
            <a:r>
              <a:rPr lang="hr-HR" b="1" dirty="0"/>
              <a:t>General </a:t>
            </a:r>
          </a:p>
          <a:p>
            <a:pPr defTabSz="357188">
              <a:buFontTx/>
              <a:buChar char="-"/>
            </a:pPr>
            <a:r>
              <a:rPr lang="hr-HR" dirty="0"/>
              <a:t>Promijenimo  </a:t>
            </a:r>
            <a:r>
              <a:rPr lang="hr-HR" b="1" dirty="0"/>
              <a:t>Type</a:t>
            </a:r>
            <a:r>
              <a:rPr lang="hr-HR" dirty="0"/>
              <a:t> u </a:t>
            </a:r>
            <a:r>
              <a:rPr lang="hr-HR" b="1" dirty="0"/>
              <a:t>Point</a:t>
            </a:r>
            <a:r>
              <a:rPr lang="hr-HR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A3EC99-EEB9-8B16-FE4E-F6A9FD812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142" y="985308"/>
            <a:ext cx="3173938" cy="1354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F4E59A-7792-00FD-0BDE-244310417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179" y="2571750"/>
            <a:ext cx="2434968" cy="240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97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4566D-3831-2A82-CA83-4703C81C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B6F076-DC23-6743-2F3F-DA280EE6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igrača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D6ECF1-6B83-9CA7-8932-57389E6FDF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39507"/>
            <a:ext cx="4534601" cy="380336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Želimo kreirati igrača i omogućiti mu osnovne mehanizme kretanja: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Pozicioniramo se na prozor prikazan na slici i odaberemo </a:t>
            </a:r>
            <a:r>
              <a:rPr lang="hr-HR" b="1" dirty="0"/>
              <a:t>PlayerCapsule </a:t>
            </a:r>
          </a:p>
          <a:p>
            <a:pPr defTabSz="357188"/>
            <a:r>
              <a:rPr lang="hr-HR" dirty="0"/>
              <a:t>Dodamo kapsulu u hijerarhiju  i nazovemo ju </a:t>
            </a:r>
            <a:r>
              <a:rPr lang="hr-HR" b="1" dirty="0"/>
              <a:t>Player </a:t>
            </a:r>
          </a:p>
          <a:p>
            <a:pPr defTabSz="357188"/>
            <a:endParaRPr lang="hr-H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049F78-6375-D0C1-1221-4B934B0C3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683" y="759353"/>
            <a:ext cx="2941260" cy="10513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D54A48-F72A-E00D-4335-F9F1A4FD8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884" y="2514206"/>
            <a:ext cx="2981059" cy="163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5B5C-1748-43AD-AE0E-A03CE530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428A56-097E-1C74-E17D-8F74652B5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Kamera prati igrača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6946EC-AA38-7575-BD2D-D76A875E22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39507"/>
            <a:ext cx="4904715" cy="380336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Pošto Player kapsula dolazi s predefiniranom skriptom koja sadrži sve osnovne funkcije kretanja potrebno je povezati igrača s kamerom koja ga prati: 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-Pozicioniramo se na prozor </a:t>
            </a:r>
            <a:r>
              <a:rPr lang="hr-HR" b="1" dirty="0"/>
              <a:t>PlayerCapsule</a:t>
            </a:r>
          </a:p>
          <a:p>
            <a:pPr marL="0" indent="0" defTabSz="357188">
              <a:buNone/>
            </a:pPr>
            <a:r>
              <a:rPr lang="hr-HR" dirty="0"/>
              <a:t>-Proširimo izbornik skripte </a:t>
            </a:r>
          </a:p>
          <a:p>
            <a:pPr marL="0" indent="0" defTabSz="357188">
              <a:buNone/>
            </a:pPr>
            <a:r>
              <a:rPr lang="hr-HR" dirty="0"/>
              <a:t>-Pronađemo </a:t>
            </a:r>
            <a:r>
              <a:rPr lang="hr-HR" b="1" dirty="0"/>
              <a:t>Cinemachine &gt; Cinemachine Camera </a:t>
            </a:r>
          </a:p>
          <a:p>
            <a:pPr marL="0" indent="0" defTabSz="357188">
              <a:buNone/>
            </a:pPr>
            <a:r>
              <a:rPr lang="hr-HR" dirty="0"/>
              <a:t>-Povučemo </a:t>
            </a:r>
            <a:r>
              <a:rPr lang="hr-HR" b="1" dirty="0"/>
              <a:t>PlayerFollowCamera</a:t>
            </a:r>
            <a:r>
              <a:rPr lang="hr-HR" dirty="0"/>
              <a:t> iz hijerarhije  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Kada pokrenemo igru primjećujemo da se možemo kretati naprijed, nazad, lijevo, desno, imamo mogućnost skoka i sprinta, kao i mogućnost pomicanja kamere mišom.</a:t>
            </a:r>
          </a:p>
          <a:p>
            <a:pPr marL="0" indent="0" defTabSz="357188">
              <a:buNone/>
            </a:pPr>
            <a:r>
              <a:rPr lang="hr-HR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B70049-582C-46AA-5E5B-8A464DB72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019" y="754741"/>
            <a:ext cx="2595981" cy="390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20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09FD-25B6-F317-0B4F-DE9A8B24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04EE1D-7987-17A5-7D67-998F7CB0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Postavke kapsule 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D3501D-644C-640B-0C99-77FE662F09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39507"/>
            <a:ext cx="4904715" cy="380336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 Kako kapsula ne bi bila vidljiva u sceni potrebno je promijeniti  Scale kapsule tako da ona postane nevidljiva golom oku.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-Odabir </a:t>
            </a:r>
            <a:r>
              <a:rPr lang="hr-HR" b="1" dirty="0"/>
              <a:t>Player </a:t>
            </a:r>
            <a:r>
              <a:rPr lang="hr-HR" dirty="0"/>
              <a:t>u hijerarhiji  &gt; </a:t>
            </a:r>
            <a:r>
              <a:rPr lang="hr-HR" b="1" dirty="0"/>
              <a:t>Capsule</a:t>
            </a:r>
            <a:r>
              <a:rPr lang="hr-HR" dirty="0"/>
              <a:t> </a:t>
            </a:r>
          </a:p>
          <a:p>
            <a:pPr marL="0" indent="0" defTabSz="357188">
              <a:buNone/>
            </a:pPr>
            <a:r>
              <a:rPr lang="hr-HR" dirty="0"/>
              <a:t>-Promjena </a:t>
            </a:r>
            <a:r>
              <a:rPr lang="hr-HR" b="1" dirty="0"/>
              <a:t>Scale</a:t>
            </a:r>
            <a:r>
              <a:rPr lang="hr-HR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0AE143-0060-F879-F7BC-DBB5B3C07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26" y="1190307"/>
            <a:ext cx="2658074" cy="52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D70EFF-408E-CB23-9C80-50D354577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179" y="2093590"/>
            <a:ext cx="2673821" cy="75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944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D9871-EAD3-4E62-F83E-E4837C60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063F40-2202-C2FE-C72D-B575FA23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Postavke kamere koja prati igrača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9B47FA-CEAA-4556-F1AD-1799A17A82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39507"/>
            <a:ext cx="4904715" cy="380336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 Također je potrebno podesiti  kameru kako bi ona pratila objekt Player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-Odaberi </a:t>
            </a:r>
            <a:r>
              <a:rPr lang="hr-HR" b="1" dirty="0"/>
              <a:t>PlayerFollowCamera</a:t>
            </a:r>
            <a:r>
              <a:rPr lang="hr-HR" dirty="0"/>
              <a:t> u hijerarhiji  </a:t>
            </a:r>
          </a:p>
          <a:p>
            <a:pPr marL="0" indent="0" defTabSz="357188">
              <a:buNone/>
            </a:pPr>
            <a:r>
              <a:rPr lang="hr-HR" dirty="0"/>
              <a:t>-U </a:t>
            </a:r>
            <a:r>
              <a:rPr lang="hr-HR" b="1" dirty="0"/>
              <a:t>Inspector</a:t>
            </a:r>
            <a:r>
              <a:rPr lang="hr-HR" dirty="0"/>
              <a:t> pronađi </a:t>
            </a:r>
            <a:r>
              <a:rPr lang="hr-HR" b="1" dirty="0"/>
              <a:t>Cinemachine</a:t>
            </a:r>
            <a:r>
              <a:rPr lang="hr-HR" dirty="0"/>
              <a:t> </a:t>
            </a:r>
            <a:r>
              <a:rPr lang="hr-HR" b="1" dirty="0"/>
              <a:t>Camera</a:t>
            </a:r>
            <a:r>
              <a:rPr lang="hr-HR" dirty="0"/>
              <a:t> </a:t>
            </a:r>
          </a:p>
          <a:p>
            <a:pPr marL="0" indent="0" defTabSz="357188">
              <a:buNone/>
            </a:pPr>
            <a:r>
              <a:rPr lang="hr-HR" dirty="0"/>
              <a:t>-pod </a:t>
            </a:r>
            <a:r>
              <a:rPr lang="hr-HR" b="1" dirty="0"/>
              <a:t>Tracing</a:t>
            </a:r>
            <a:r>
              <a:rPr lang="hr-HR" dirty="0"/>
              <a:t> </a:t>
            </a:r>
            <a:r>
              <a:rPr lang="hr-HR" b="1" dirty="0"/>
              <a:t>Target</a:t>
            </a:r>
            <a:r>
              <a:rPr lang="hr-HR" dirty="0"/>
              <a:t> povuci objekt </a:t>
            </a:r>
            <a:r>
              <a:rPr lang="hr-HR" b="1" dirty="0"/>
              <a:t>Player</a:t>
            </a:r>
            <a:r>
              <a:rPr lang="hr-HR" dirty="0"/>
              <a:t> iz hijerarhije  </a:t>
            </a:r>
          </a:p>
          <a:p>
            <a:pPr marL="0" indent="0" defTabSz="357188">
              <a:buNone/>
            </a:pPr>
            <a:r>
              <a:rPr lang="hr-HR" dirty="0"/>
              <a:t>-zatim pronađi </a:t>
            </a:r>
            <a:r>
              <a:rPr lang="hr-HR" b="1" dirty="0"/>
              <a:t>Position</a:t>
            </a:r>
            <a:r>
              <a:rPr lang="hr-HR" dirty="0"/>
              <a:t> </a:t>
            </a:r>
            <a:r>
              <a:rPr lang="hr-HR" b="1" dirty="0"/>
              <a:t>Control</a:t>
            </a:r>
            <a:r>
              <a:rPr lang="hr-HR" dirty="0"/>
              <a:t> i odaberi </a:t>
            </a:r>
            <a:r>
              <a:rPr lang="hr-HR" b="1" dirty="0"/>
              <a:t>Third</a:t>
            </a:r>
            <a:r>
              <a:rPr lang="hr-HR" dirty="0"/>
              <a:t> </a:t>
            </a:r>
            <a:r>
              <a:rPr lang="hr-HR" b="1" dirty="0"/>
              <a:t>Person</a:t>
            </a:r>
            <a:r>
              <a:rPr lang="hr-HR" dirty="0"/>
              <a:t> </a:t>
            </a:r>
            <a:r>
              <a:rPr lang="hr-HR" b="1" dirty="0"/>
              <a:t>Follow</a:t>
            </a:r>
            <a:r>
              <a:rPr lang="hr-HR" dirty="0"/>
              <a:t> 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-pokreni igru i testiraj kako kamera prati kretanje igrača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FDB546-7262-8841-FA3D-37708C2E8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057" y="942694"/>
            <a:ext cx="2350199" cy="10588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B376F9-B13E-74D6-D71E-0EE995EB9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057" y="2327661"/>
            <a:ext cx="2501763" cy="242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85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C878-94DF-B9A2-F79F-CDC7E788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8F47D-8E6F-C488-C538-7BD925836E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dirty="0"/>
              <a:t>Kreiranje projektila</a:t>
            </a:r>
          </a:p>
        </p:txBody>
      </p:sp>
    </p:spTree>
    <p:extLst>
      <p:ext uri="{BB962C8B-B14F-4D97-AF65-F5344CB8AC3E}">
        <p14:creationId xmlns:p14="http://schemas.microsoft.com/office/powerpoint/2010/main" val="1250249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C07B-4E36-AD5D-54BB-66AE14E7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EB003C-F92C-1B13-A5BE-D4F576BB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novog objekta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FB525C-9651-D6A7-9078-9270012209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39507"/>
            <a:ext cx="4534601" cy="3803366"/>
          </a:xfrm>
        </p:spPr>
        <p:txBody>
          <a:bodyPr/>
          <a:lstStyle/>
          <a:p>
            <a:pPr defTabSz="357188"/>
            <a:r>
              <a:rPr lang="hr-HR" dirty="0"/>
              <a:t>Nakon kreiranja novog objekta Sphere odaberi mu </a:t>
            </a:r>
            <a:r>
              <a:rPr lang="hr-HR" b="1" dirty="0"/>
              <a:t>Scale</a:t>
            </a:r>
            <a:r>
              <a:rPr lang="hr-HR" dirty="0"/>
              <a:t> po želji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Obrati posebnu pažnju da u </a:t>
            </a:r>
            <a:r>
              <a:rPr lang="hr-HR" b="1" dirty="0"/>
              <a:t>Inspectoru</a:t>
            </a:r>
            <a:r>
              <a:rPr lang="hr-HR" dirty="0"/>
              <a:t> ugasiš </a:t>
            </a:r>
            <a:r>
              <a:rPr lang="hr-HR" b="1" dirty="0"/>
              <a:t>Sphere</a:t>
            </a:r>
            <a:r>
              <a:rPr lang="hr-HR" dirty="0"/>
              <a:t> </a:t>
            </a:r>
            <a:r>
              <a:rPr lang="hr-HR" b="1" dirty="0"/>
              <a:t>Collider</a:t>
            </a:r>
            <a:r>
              <a:rPr lang="hr-HR" dirty="0"/>
              <a:t> za objekt </a:t>
            </a:r>
            <a:r>
              <a:rPr lang="hr-HR" b="1" dirty="0"/>
              <a:t>Sphere</a:t>
            </a:r>
          </a:p>
          <a:p>
            <a:pPr defTabSz="357188"/>
            <a:endParaRPr lang="hr-HR" b="1" dirty="0"/>
          </a:p>
          <a:p>
            <a:pPr defTabSz="357188"/>
            <a:r>
              <a:rPr lang="hr-HR" dirty="0"/>
              <a:t>Zatim preimenuj  </a:t>
            </a:r>
            <a:r>
              <a:rPr lang="hr-HR" b="1" dirty="0"/>
              <a:t>Sphere</a:t>
            </a:r>
            <a:r>
              <a:rPr lang="hr-HR" dirty="0"/>
              <a:t> u </a:t>
            </a:r>
            <a:r>
              <a:rPr lang="hr-HR" b="1" dirty="0"/>
              <a:t>Metak</a:t>
            </a:r>
            <a:r>
              <a:rPr lang="hr-HR" dirty="0"/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98694-AC59-4B4C-344D-F6B43EE19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286" y="896257"/>
            <a:ext cx="2433065" cy="2900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514710-1BD4-D421-964F-DAD4B99DD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796" y="4020970"/>
            <a:ext cx="2200518" cy="101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14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E77F-0A84-F7AE-1064-7F584B1C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E16311-4374-BC2F-2E2F-DA3BA9C2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Prefab za Metak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2BB557-1029-BA15-6A53-76FAA04B44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39507"/>
            <a:ext cx="4534601" cy="3803366"/>
          </a:xfrm>
        </p:spPr>
        <p:txBody>
          <a:bodyPr/>
          <a:lstStyle/>
          <a:p>
            <a:pPr defTabSz="357188"/>
            <a:r>
              <a:rPr lang="hr-HR" dirty="0"/>
              <a:t>Kako bismo kreirali </a:t>
            </a:r>
            <a:r>
              <a:rPr lang="hr-HR" b="1" dirty="0"/>
              <a:t>Prefab</a:t>
            </a:r>
            <a:r>
              <a:rPr lang="hr-HR" dirty="0"/>
              <a:t> za </a:t>
            </a:r>
            <a:r>
              <a:rPr lang="hr-HR" b="1" dirty="0"/>
              <a:t>Metak</a:t>
            </a:r>
            <a:r>
              <a:rPr lang="hr-HR" dirty="0"/>
              <a:t> potrebno je odabrati </a:t>
            </a:r>
            <a:r>
              <a:rPr lang="hr-HR" b="1" dirty="0"/>
              <a:t>Metak</a:t>
            </a:r>
            <a:r>
              <a:rPr lang="hr-HR" dirty="0"/>
              <a:t> u hijerarhiji 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Nakon toga odvučemo </a:t>
            </a:r>
            <a:r>
              <a:rPr lang="hr-HR" b="1" dirty="0"/>
              <a:t>Metak</a:t>
            </a:r>
            <a:r>
              <a:rPr lang="hr-HR" dirty="0"/>
              <a:t> u </a:t>
            </a:r>
            <a:r>
              <a:rPr lang="hr-HR" b="1" dirty="0"/>
              <a:t>Assets</a:t>
            </a:r>
            <a:r>
              <a:rPr lang="hr-HR" dirty="0"/>
              <a:t>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Kao što vidimo </a:t>
            </a:r>
            <a:r>
              <a:rPr lang="hr-HR" b="1" dirty="0"/>
              <a:t>Metak</a:t>
            </a:r>
            <a:r>
              <a:rPr lang="hr-HR" dirty="0"/>
              <a:t> je postao </a:t>
            </a:r>
            <a:r>
              <a:rPr lang="hr-HR" b="1" dirty="0"/>
              <a:t>Prefab</a:t>
            </a:r>
            <a:r>
              <a:rPr lang="hr-HR" dirty="0"/>
              <a:t>, to je vidljivo u hijerarhiji  jer je označen </a:t>
            </a:r>
            <a:r>
              <a:rPr lang="hr-HR" b="1" dirty="0"/>
              <a:t>plavom bojom </a:t>
            </a:r>
          </a:p>
          <a:p>
            <a:pPr defTabSz="357188"/>
            <a:endParaRPr lang="hr-HR" b="1" dirty="0"/>
          </a:p>
          <a:p>
            <a:pPr defTabSz="357188"/>
            <a:r>
              <a:rPr lang="hr-HR" b="1" dirty="0"/>
              <a:t>Nakon toga možemo obrisati Metak iz hijerarhije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FE7ACE-C9CE-B920-2FEA-37C4C07EF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50" y="2411967"/>
            <a:ext cx="2918250" cy="18498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55D7CD-F81C-DD00-B907-EE1BB0829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972" y="1139507"/>
            <a:ext cx="3898727" cy="77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47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E001-536D-7939-D1D9-AC09F486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B22378-472D-EE7E-6BAE-BED99899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hr-HR" sz="2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Kreiranje skripte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651099-B054-3D99-C579-6D2C8700D9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56940"/>
            <a:ext cx="5507057" cy="3803366"/>
          </a:xfrm>
        </p:spPr>
        <p:txBody>
          <a:bodyPr/>
          <a:lstStyle/>
          <a:p>
            <a:pPr marL="266700" indent="-266700">
              <a:lnSpc>
                <a:spcPct val="100000"/>
              </a:lnSpc>
              <a:spcAft>
                <a:spcPts val="600"/>
              </a:spcAft>
              <a:buFont typeface="Roboto" panose="02000000000000000000" pitchFamily="2" charset="0"/>
              <a:buChar char="−"/>
            </a:pP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Arial"/>
              <a:buNone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Kreiranje mape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Kreirajte novu mapu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Skripte</a:t>
            </a: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 u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Assets</a:t>
            </a:r>
            <a:endParaRPr lang="hr-HR" sz="1600" b="1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voklik na </a:t>
            </a: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ime mape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Kreirajte skriptu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PlayerControler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endParaRPr lang="hr-HR" b="1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Pozicioniraj se na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Player</a:t>
            </a: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 i odvuci skriptu u njega i otvorimo skriptu 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defTabSz="357188"/>
            <a:endParaRPr lang="hr-H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D671E4-AF9F-F358-3739-EED65BBCE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376" y="1013423"/>
            <a:ext cx="895475" cy="1171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B3717-B13C-AF69-649A-AC0D32F1A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196" y="1042631"/>
            <a:ext cx="1254804" cy="1239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3EF882-CB1D-096B-EC7E-B8DF8D1DE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199" y="2708062"/>
            <a:ext cx="3101368" cy="165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06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AA6A42-B553-4C05-9053-F48A26D4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2400" b="1" dirty="0">
                <a:latin typeface="Roboto"/>
                <a:ea typeface="Roboto"/>
                <a:cs typeface="Roboto"/>
                <a:sym typeface="Roboto"/>
              </a:rPr>
              <a:t>PlayerControler.cs</a:t>
            </a:r>
            <a:endParaRPr lang="hr-H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DC3056-6A93-4F7A-9A13-F05074F245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39"/>
            <a:ext cx="8358000" cy="3814203"/>
          </a:xfrm>
        </p:spPr>
        <p:txBody>
          <a:bodyPr/>
          <a:lstStyle/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UnityEngine;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System.Collections;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System.Collections.Generic;</a:t>
            </a: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kockaUpravljanje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MonoBehaviour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hr-HR" sz="1050" dirty="0">
                <a:solidFill>
                  <a:schemeClr val="accent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GameObject bulletPrefab; </a:t>
            </a:r>
            <a:r>
              <a:rPr lang="hr-HR" sz="105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//Prefab za Metak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Start is called once before the first execution of Update after the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MonoBehaviou</a:t>
            </a:r>
            <a:r>
              <a:rPr lang="hr-HR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is created</a:t>
            </a:r>
            <a:endParaRPr lang="en-US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Start()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Update is called once per frame</a:t>
            </a:r>
            <a:endParaRPr lang="en-US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buNone/>
            </a:pPr>
            <a:endParaRPr lang="hr-H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r-HR" sz="1400" dirty="0">
              <a:solidFill>
                <a:schemeClr val="tx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lang="hr-H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334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FE762-D14C-69EB-F10B-426BBF38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6320DE-7CD1-A920-2251-EE0F232C1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„Spawning” sistema za metke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E7842F-84C0-61AA-693E-C93883B457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39507"/>
            <a:ext cx="4534601" cy="3803366"/>
          </a:xfrm>
        </p:spPr>
        <p:txBody>
          <a:bodyPr/>
          <a:lstStyle/>
          <a:p>
            <a:pPr defTabSz="357188"/>
            <a:r>
              <a:rPr lang="hr-HR" dirty="0"/>
              <a:t>Spremanjem skripte vidimo da je naša skripta dobila novi element Bullet Prefab kojemu je moguće pridijeliti  neki objekt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To učinimo tako da odaberemo </a:t>
            </a:r>
            <a:r>
              <a:rPr lang="hr-HR" b="1" dirty="0"/>
              <a:t>Metak</a:t>
            </a:r>
            <a:r>
              <a:rPr lang="hr-HR" dirty="0"/>
              <a:t> prefab u </a:t>
            </a:r>
            <a:r>
              <a:rPr lang="hr-HR" b="1" dirty="0"/>
              <a:t>Assets</a:t>
            </a:r>
            <a:r>
              <a:rPr lang="hr-HR" dirty="0"/>
              <a:t> i odvučemo ga u polje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Zatim se vratimo u skriptu gdje ćemo  omogućiti da igrač klikom miša kreira metak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158D0-C7E8-ACE7-BC39-BD64DBFCD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82" y="1536225"/>
            <a:ext cx="3117647" cy="6388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BE9F29-B7FC-8888-0136-72E199A95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182" y="2535931"/>
            <a:ext cx="3105680" cy="63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49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3174-070B-5DB3-AD8A-7E16B54BD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BB0F6C-0104-847D-2E9F-FDEE0FD0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2000" b="1" dirty="0">
                <a:latin typeface="Roboto"/>
                <a:ea typeface="Roboto"/>
                <a:cs typeface="Roboto"/>
                <a:sym typeface="Roboto"/>
              </a:rPr>
              <a:t>PlayerControler.cs</a:t>
            </a:r>
            <a:endParaRPr lang="hr-H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6CC42D-7FFA-F67B-786F-AEB3B10CB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8358000" cy="2602260"/>
          </a:xfrm>
        </p:spPr>
        <p:txBody>
          <a:bodyPr/>
          <a:lstStyle/>
          <a:p>
            <a:pPr marL="0" indent="0">
              <a:buNone/>
            </a:pP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(Input.GetMouseButtonDown(</a:t>
            </a:r>
            <a:r>
              <a:rPr lang="hr-HR" sz="14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hr-HR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//Pucanje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hr-HR" sz="1400" dirty="0">
                <a:solidFill>
                  <a:schemeClr val="accent2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GameObject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1400" dirty="0">
                <a:solidFill>
                  <a:schemeClr val="accent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bulletObject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			GameObject.Instantiate&lt;GameObject&gt;(bulletPrefab);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hr-HR" sz="1400" dirty="0">
                <a:solidFill>
                  <a:schemeClr val="accent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bulletObject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 =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.transform.position;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hr-HR" sz="1400" dirty="0">
              <a:solidFill>
                <a:schemeClr val="tx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lang="hr-HR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DD572-74A6-B6AF-4E8B-4AE35EC6F499}"/>
              </a:ext>
            </a:extLst>
          </p:cNvPr>
          <p:cNvSpPr txBox="1"/>
          <p:nvPr/>
        </p:nvSpPr>
        <p:spPr>
          <a:xfrm>
            <a:off x="529771" y="3904343"/>
            <a:ext cx="711925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Kada pritisnemo tipku miša kreira se metak.</a:t>
            </a:r>
          </a:p>
          <a:p>
            <a:endParaRPr lang="hr-HR" dirty="0"/>
          </a:p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hr-HR" sz="1400"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OPREZ: </a:t>
            </a:r>
            <a:r>
              <a:rPr lang="hr-HR" sz="1400" dirty="0">
                <a:latin typeface="Roboto"/>
                <a:ea typeface="Roboto"/>
                <a:cs typeface="Roboto"/>
                <a:sym typeface="Roboto"/>
              </a:rPr>
              <a:t>Snimite skriptu kako bi se ažurirale promjene</a:t>
            </a:r>
          </a:p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hr-HR" sz="1400" b="1" dirty="0">
                <a:solidFill>
                  <a:srgbClr val="0780C1"/>
                </a:solidFill>
                <a:latin typeface="Roboto"/>
                <a:ea typeface="Roboto"/>
                <a:cs typeface="Roboto"/>
                <a:sym typeface="Roboto"/>
              </a:rPr>
              <a:t>Testiranje: </a:t>
            </a:r>
            <a:r>
              <a:rPr lang="hr-HR" sz="1400" dirty="0">
                <a:latin typeface="Roboto"/>
                <a:ea typeface="Roboto"/>
                <a:cs typeface="Roboto"/>
                <a:sym typeface="Roboto"/>
              </a:rPr>
              <a:t>Testirajte izvršavanje metode </a:t>
            </a:r>
            <a:r>
              <a:rPr lang="hr-HR" sz="1400" b="1" dirty="0">
                <a:latin typeface="Roboto"/>
                <a:ea typeface="Roboto"/>
                <a:cs typeface="Roboto"/>
                <a:sym typeface="Roboto"/>
              </a:rPr>
              <a:t>Start</a:t>
            </a:r>
          </a:p>
          <a:p>
            <a:r>
              <a:rPr lang="hr-H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950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F04F-E65C-64A5-73D5-2EBE759A9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818875-B61D-852A-6F90-8D4F7825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2400" b="1" dirty="0">
                <a:latin typeface="Roboto"/>
                <a:ea typeface="Roboto"/>
                <a:cs typeface="Roboto"/>
                <a:sym typeface="Roboto"/>
              </a:rPr>
              <a:t>PlayerControler.cs</a:t>
            </a:r>
            <a:endParaRPr lang="hr-H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030F45-27BD-B56C-A92D-9AF21C030F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8358000" cy="946180"/>
          </a:xfrm>
        </p:spPr>
        <p:txBody>
          <a:bodyPr/>
          <a:lstStyle/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UnityEngine;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System.Collections;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System.Collections.Generic;</a:t>
            </a: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hr-HR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hr-HR" sz="1400" dirty="0">
              <a:solidFill>
                <a:schemeClr val="tx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lang="hr-H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CDF668-DC22-81A4-0A79-987E527A54D4}"/>
              </a:ext>
            </a:extLst>
          </p:cNvPr>
          <p:cNvSpPr txBox="1"/>
          <p:nvPr/>
        </p:nvSpPr>
        <p:spPr>
          <a:xfrm>
            <a:off x="525780" y="2103120"/>
            <a:ext cx="7966710" cy="2562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solidFill>
                  <a:srgbClr val="0780C1"/>
                </a:solidFill>
                <a:latin typeface="Roboto"/>
                <a:ea typeface="Roboto"/>
                <a:cs typeface="Roboto"/>
                <a:sym typeface="Roboto"/>
              </a:rPr>
              <a:t>using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uključivanje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  <a:hlinkClick r:id="rId2"/>
              </a:rPr>
              <a:t>biblioteka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176213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hr-HR" sz="1600" dirty="0">
                <a:solidFill>
                  <a:srgbClr val="0780C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</a:t>
            </a:r>
            <a:r>
              <a:rPr lang="hr-HR" sz="1600" dirty="0">
                <a:solidFill>
                  <a:srgbClr val="474747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PlayerControler : MonoBehaviour {</a:t>
            </a:r>
          </a:p>
          <a:p>
            <a:pPr marL="176213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176213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Definicija klase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PlayerControler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naša klasa proizvoljnog imena</a:t>
            </a:r>
          </a:p>
          <a:p>
            <a:pPr marL="176213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Nasljeđivanje – klasa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  <a:hlinkClick r:id="rId3"/>
              </a:rPr>
              <a:t>MonoBehaviour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633413" lvl="1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Različite klase za brojne funkcionalnosti</a:t>
            </a:r>
          </a:p>
          <a:p>
            <a:pPr marL="633413" lvl="1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Animator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upravljanje animacijama objekta</a:t>
            </a:r>
          </a:p>
          <a:p>
            <a:pPr marL="633413" lvl="1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AudioClip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reprodukcija zvuka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68708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0420-0D56-5309-314F-AE93F60BA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0E889-1772-BBAB-3AE8-4A5F94EFFD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dirty="0"/>
              <a:t>Pomicanje metaka </a:t>
            </a:r>
          </a:p>
        </p:txBody>
      </p:sp>
    </p:spTree>
    <p:extLst>
      <p:ext uri="{BB962C8B-B14F-4D97-AF65-F5344CB8AC3E}">
        <p14:creationId xmlns:p14="http://schemas.microsoft.com/office/powerpoint/2010/main" val="983703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7FDA8-3621-5824-64DB-7E37E263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BB7D05-3CDB-92E5-B6E8-F47456AF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hr-HR" sz="2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Kreiranje skripte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36BD06-0630-873F-6B0F-A1EACF55CB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56940"/>
            <a:ext cx="5507057" cy="3803366"/>
          </a:xfrm>
        </p:spPr>
        <p:txBody>
          <a:bodyPr/>
          <a:lstStyle/>
          <a:p>
            <a:pPr marL="266700" indent="-266700">
              <a:lnSpc>
                <a:spcPct val="100000"/>
              </a:lnSpc>
              <a:spcAft>
                <a:spcPts val="600"/>
              </a:spcAft>
              <a:buFont typeface="Roboto" panose="02000000000000000000" pitchFamily="2" charset="0"/>
              <a:buChar char="−"/>
            </a:pP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Arial"/>
              <a:buNone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Kreiranje mape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Kreirajte novu mapu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Skripte</a:t>
            </a: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 u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Assets</a:t>
            </a:r>
            <a:endParaRPr lang="hr-HR" sz="1600" b="1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voklik na </a:t>
            </a: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ime mape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Kreirajte skriptu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Bullet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Controller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endParaRPr lang="hr-HR" b="1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Pozicioniraj se na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Metak</a:t>
            </a: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 i odvuci skriptu u njega i otvorimo skriptu 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defTabSz="357188"/>
            <a:endParaRPr lang="hr-H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C7EE36-6113-793B-7540-56AAEA340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376" y="1013423"/>
            <a:ext cx="895475" cy="1171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3D7F3A-8399-9661-38F2-BEF8864AF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014" y="965778"/>
            <a:ext cx="978518" cy="121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98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D4B05-F421-3B0B-F806-62FD76C9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E3B86E-9EF1-4F69-6A55-C9905BB0B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2000" dirty="0">
                <a:latin typeface="Roboto"/>
                <a:ea typeface="Roboto"/>
                <a:cs typeface="Roboto"/>
                <a:sym typeface="Roboto"/>
              </a:rPr>
              <a:t>Bullet</a:t>
            </a:r>
            <a:r>
              <a:rPr lang="hr-HR" sz="2000" b="1" dirty="0">
                <a:latin typeface="Roboto"/>
                <a:ea typeface="Roboto"/>
                <a:cs typeface="Roboto"/>
                <a:sym typeface="Roboto"/>
              </a:rPr>
              <a:t>Controller.cs</a:t>
            </a:r>
            <a:endParaRPr lang="hr-H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1AC5A6-9CE0-BF2D-3F1C-FABBDA4A8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39"/>
            <a:ext cx="8358000" cy="2466371"/>
          </a:xfrm>
        </p:spPr>
        <p:txBody>
          <a:bodyPr/>
          <a:lstStyle/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hr-HR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speed = </a:t>
            </a:r>
            <a:r>
              <a:rPr lang="hr-HR" sz="1200" dirty="0">
                <a:solidFill>
                  <a:schemeClr val="accent2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0.5f</a:t>
            </a: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hr-HR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angle; </a:t>
            </a:r>
            <a:r>
              <a:rPr lang="hr-HR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kut pod kojim se metak ispaljuje</a:t>
            </a:r>
            <a:endParaRPr lang="hr-HR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r-HR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hr-HR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None/>
            </a:pP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r>
              <a:rPr lang="hr-HR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//Pomicanje metka</a:t>
            </a:r>
            <a:endParaRPr lang="hr-HR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hr-HR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 += </a:t>
            </a:r>
            <a:r>
              <a:rPr lang="hr-HR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Vector3(Mathf.Cos(angle) * speed, 0, Mathf.Sin(angle) * speed);</a:t>
            </a:r>
          </a:p>
          <a:p>
            <a:pPr marL="0" indent="0">
              <a:buNone/>
            </a:pP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pPr marL="0" indent="0">
              <a:buNone/>
            </a:pP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</a:p>
          <a:p>
            <a:pPr marL="0" indent="0">
              <a:buNone/>
            </a:pPr>
            <a:r>
              <a:rPr lang="hr-HR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hr-H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r-HR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9B0493-3476-0535-E340-E2A128BA59D5}"/>
              </a:ext>
            </a:extLst>
          </p:cNvPr>
          <p:cNvSpPr txBox="1"/>
          <p:nvPr/>
        </p:nvSpPr>
        <p:spPr>
          <a:xfrm>
            <a:off x="393000" y="3640742"/>
            <a:ext cx="84171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Linija s </a:t>
            </a:r>
            <a:r>
              <a:rPr lang="hr-HR" b="1" dirty="0"/>
              <a:t>Mathf.Cos(angle) </a:t>
            </a:r>
            <a:r>
              <a:rPr lang="hr-HR" dirty="0"/>
              <a:t>i </a:t>
            </a:r>
            <a:r>
              <a:rPr lang="hr-HR" b="1" dirty="0"/>
              <a:t>Mathf.Sin(angle) </a:t>
            </a:r>
            <a:r>
              <a:rPr lang="hr-HR" dirty="0"/>
              <a:t>računa promjenu pozicije objekta (u ovom slučaju metka) u prostoru, </a:t>
            </a:r>
            <a:r>
              <a:rPr lang="hr-HR" dirty="0">
                <a:latin typeface="+mj-lt"/>
              </a:rPr>
              <a:t>koristeći</a:t>
            </a:r>
            <a:r>
              <a:rPr lang="hr-HR" dirty="0"/>
              <a:t> kut pod kojim se ispaljuje (</a:t>
            </a:r>
            <a:r>
              <a:rPr lang="hr-HR" b="1" dirty="0"/>
              <a:t>angle</a:t>
            </a:r>
            <a:r>
              <a:rPr lang="hr-HR" dirty="0"/>
              <a:t>) i brzinu (</a:t>
            </a:r>
            <a:r>
              <a:rPr lang="hr-HR" b="1" dirty="0"/>
              <a:t>speed</a:t>
            </a:r>
            <a:r>
              <a:rPr lang="hr-HR" dirty="0"/>
              <a:t>)</a:t>
            </a:r>
          </a:p>
          <a:p>
            <a:endParaRPr lang="hr-HR" dirty="0"/>
          </a:p>
          <a:p>
            <a:r>
              <a:rPr lang="en-US" dirty="0"/>
              <a:t>Ova </a:t>
            </a:r>
            <a:r>
              <a:rPr lang="en-US" dirty="0" err="1"/>
              <a:t>linija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trigonometrijske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b="1" dirty="0"/>
              <a:t>cos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sin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odredila</a:t>
            </a:r>
            <a:r>
              <a:rPr lang="en-US" dirty="0"/>
              <a:t> </a:t>
            </a:r>
            <a:r>
              <a:rPr lang="en-US" dirty="0" err="1"/>
              <a:t>smjerna</a:t>
            </a:r>
            <a:r>
              <a:rPr lang="en-US" dirty="0"/>
              <a:t> </a:t>
            </a:r>
            <a:r>
              <a:rPr lang="en-US" dirty="0" err="1"/>
              <a:t>komponenta</a:t>
            </a:r>
            <a:r>
              <a:rPr lang="en-US" dirty="0"/>
              <a:t> </a:t>
            </a:r>
            <a:r>
              <a:rPr lang="en-US" dirty="0" err="1"/>
              <a:t>kretanja</a:t>
            </a:r>
            <a:r>
              <a:rPr lang="en-US" dirty="0"/>
              <a:t> </a:t>
            </a:r>
            <a:r>
              <a:rPr lang="en-US" dirty="0" err="1"/>
              <a:t>metka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temelju</a:t>
            </a:r>
            <a:r>
              <a:rPr lang="en-US" dirty="0"/>
              <a:t> kuta </a:t>
            </a:r>
            <a:r>
              <a:rPr lang="en-US" dirty="0" err="1"/>
              <a:t>ispaljivanja</a:t>
            </a:r>
            <a:r>
              <a:rPr lang="en-US" dirty="0"/>
              <a:t>. </a:t>
            </a:r>
            <a:r>
              <a:rPr lang="en-US" dirty="0" err="1"/>
              <a:t>Kombiniranjem</a:t>
            </a:r>
            <a:r>
              <a:rPr lang="en-US" dirty="0"/>
              <a:t> </a:t>
            </a:r>
            <a:r>
              <a:rPr lang="en-US" dirty="0" err="1"/>
              <a:t>tih</a:t>
            </a:r>
            <a:r>
              <a:rPr lang="en-US" dirty="0"/>
              <a:t> </a:t>
            </a:r>
            <a:r>
              <a:rPr lang="en-US" dirty="0" err="1"/>
              <a:t>vrijednosti</a:t>
            </a:r>
            <a:r>
              <a:rPr lang="en-US" dirty="0"/>
              <a:t> </a:t>
            </a:r>
            <a:r>
              <a:rPr lang="en-US" dirty="0" err="1"/>
              <a:t>stvara</a:t>
            </a:r>
            <a:r>
              <a:rPr lang="en-US" dirty="0"/>
              <a:t> se </a:t>
            </a:r>
            <a:r>
              <a:rPr lang="en-US" dirty="0" err="1"/>
              <a:t>iluzija</a:t>
            </a:r>
            <a:r>
              <a:rPr lang="en-US" dirty="0"/>
              <a:t> da se </a:t>
            </a:r>
            <a:r>
              <a:rPr lang="en-US" dirty="0" err="1"/>
              <a:t>metak</a:t>
            </a:r>
            <a:r>
              <a:rPr lang="en-US" dirty="0"/>
              <a:t> </a:t>
            </a:r>
            <a:r>
              <a:rPr lang="en-US" dirty="0" err="1"/>
              <a:t>kreće</a:t>
            </a:r>
            <a:r>
              <a:rPr lang="en-US" dirty="0"/>
              <a:t> pod </a:t>
            </a:r>
            <a:r>
              <a:rPr lang="en-US" dirty="0" err="1"/>
              <a:t>određenim</a:t>
            </a:r>
            <a:r>
              <a:rPr lang="en-US" dirty="0"/>
              <a:t> </a:t>
            </a:r>
            <a:r>
              <a:rPr lang="en-US" dirty="0" err="1"/>
              <a:t>kutom</a:t>
            </a:r>
            <a:r>
              <a:rPr lang="en-US" dirty="0"/>
              <a:t> u 3D </a:t>
            </a:r>
            <a:r>
              <a:rPr lang="en-US" dirty="0" err="1"/>
              <a:t>prostoru</a:t>
            </a:r>
            <a:r>
              <a:rPr lang="en-US" dirty="0"/>
              <a:t>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23778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EC4CE-A588-0747-89A4-91BCE862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A3DF9F-C5A6-2ED8-D62E-C8ED5086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2000" b="1" dirty="0">
                <a:latin typeface="Roboto"/>
                <a:ea typeface="Roboto"/>
                <a:cs typeface="Roboto"/>
                <a:sym typeface="Roboto"/>
              </a:rPr>
              <a:t>PlayerController.cs</a:t>
            </a:r>
            <a:endParaRPr lang="hr-H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FDC36F-FE6F-BC20-1E0A-83DB75C92C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56939"/>
            <a:ext cx="8526029" cy="2754661"/>
          </a:xfrm>
        </p:spPr>
        <p:txBody>
          <a:bodyPr/>
          <a:lstStyle/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hr-HR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(Input.GetMouseButtonDown(</a:t>
            </a:r>
            <a:r>
              <a:rPr lang="hr-HR" sz="11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hr-HR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//Pucanje</a:t>
            </a:r>
          </a:p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hr-HR" sz="1100" dirty="0">
                <a:solidFill>
                  <a:schemeClr val="accent2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GameObject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1100" dirty="0">
                <a:solidFill>
                  <a:schemeClr val="accent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bulletObject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GameObject.Instantiate&lt;GameObject&gt;(bulletPrefab);</a:t>
            </a:r>
          </a:p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hr-HR" sz="1100" dirty="0">
                <a:solidFill>
                  <a:schemeClr val="accent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bulletObject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 = </a:t>
            </a:r>
            <a:r>
              <a:rPr lang="hr-HR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.transform.position;</a:t>
            </a:r>
          </a:p>
          <a:p>
            <a:pPr marL="0" indent="0">
              <a:buNone/>
            </a:pPr>
            <a:endParaRPr lang="hr-HR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1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//kut pucanja</a:t>
            </a:r>
          </a:p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BulletController </a:t>
            </a:r>
            <a:r>
              <a:rPr lang="hr-HR" sz="1100" dirty="0">
                <a:solidFill>
                  <a:schemeClr val="accent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metak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hr-HR" sz="1100" dirty="0">
                <a:solidFill>
                  <a:schemeClr val="accent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bulletObject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.GetComponent&lt;BulletController&gt;();</a:t>
            </a:r>
          </a:p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hr-HR" sz="1100" dirty="0">
                <a:solidFill>
                  <a:schemeClr val="accent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metak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.angle = -(</a:t>
            </a:r>
            <a:r>
              <a:rPr lang="hr-HR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.transform.localEulerAngles.y - </a:t>
            </a:r>
            <a:r>
              <a:rPr lang="hr-HR" sz="11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90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* Mathf.PI / </a:t>
            </a:r>
            <a:r>
              <a:rPr lang="hr-HR" sz="11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180f</a:t>
            </a: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;</a:t>
            </a:r>
          </a:p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hr-HR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endParaRPr lang="hr-HR" sz="1200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A93AA4-B00D-3103-8092-683B4B460A12}"/>
              </a:ext>
            </a:extLst>
          </p:cNvPr>
          <p:cNvSpPr txBox="1"/>
          <p:nvPr/>
        </p:nvSpPr>
        <p:spPr>
          <a:xfrm>
            <a:off x="392999" y="4005943"/>
            <a:ext cx="83580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>
                <a:latin typeface="+mn-lt"/>
              </a:rPr>
              <a:t>Kut pucanja</a:t>
            </a:r>
            <a:r>
              <a:rPr lang="en-US">
                <a:latin typeface="+mn-lt"/>
              </a:rPr>
              <a:t> </a:t>
            </a:r>
            <a:r>
              <a:rPr lang="en-US" dirty="0" err="1">
                <a:latin typeface="+mn-lt"/>
              </a:rPr>
              <a:t>računa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kut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pucanja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tako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što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uzima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trenutnu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rotaciju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objekta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na</a:t>
            </a:r>
            <a:r>
              <a:rPr lang="en-US" dirty="0">
                <a:latin typeface="+mn-lt"/>
              </a:rPr>
              <a:t> Y </a:t>
            </a:r>
            <a:r>
              <a:rPr lang="en-US" dirty="0" err="1">
                <a:latin typeface="+mn-lt"/>
              </a:rPr>
              <a:t>osi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prilagođava</a:t>
            </a:r>
            <a:r>
              <a:rPr lang="en-US" dirty="0">
                <a:latin typeface="+mn-lt"/>
              </a:rPr>
              <a:t> je </a:t>
            </a:r>
            <a:r>
              <a:rPr lang="en-US" dirty="0" err="1">
                <a:latin typeface="+mn-lt"/>
              </a:rPr>
              <a:t>tako</a:t>
            </a:r>
            <a:r>
              <a:rPr lang="en-US" dirty="0">
                <a:latin typeface="+mn-lt"/>
              </a:rPr>
              <a:t> da </a:t>
            </a:r>
            <a:r>
              <a:rPr lang="en-US" dirty="0" err="1">
                <a:latin typeface="+mn-lt"/>
              </a:rPr>
              <a:t>odgovara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smjeru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ispaljivanja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metka</a:t>
            </a:r>
            <a:r>
              <a:rPr lang="en-US" dirty="0">
                <a:latin typeface="+mn-lt"/>
              </a:rPr>
              <a:t>. Kut se </a:t>
            </a:r>
            <a:r>
              <a:rPr lang="en-US" dirty="0" err="1">
                <a:latin typeface="+mn-lt"/>
              </a:rPr>
              <a:t>pretvara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iz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stupnjeva</a:t>
            </a:r>
            <a:r>
              <a:rPr lang="en-US" dirty="0">
                <a:latin typeface="+mn-lt"/>
              </a:rPr>
              <a:t> u </a:t>
            </a:r>
            <a:r>
              <a:rPr lang="en-US" dirty="0" err="1">
                <a:latin typeface="+mn-lt"/>
              </a:rPr>
              <a:t>radijane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invertira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kako</a:t>
            </a:r>
            <a:r>
              <a:rPr lang="en-US" dirty="0">
                <a:latin typeface="+mn-lt"/>
              </a:rPr>
              <a:t> bi </a:t>
            </a:r>
            <a:r>
              <a:rPr lang="en-US" dirty="0" err="1">
                <a:latin typeface="+mn-lt"/>
              </a:rPr>
              <a:t>kretanje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metka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bilo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ispravno</a:t>
            </a:r>
            <a:r>
              <a:rPr lang="en-US" dirty="0">
                <a:latin typeface="+mn-lt"/>
              </a:rPr>
              <a:t> u </a:t>
            </a:r>
            <a:r>
              <a:rPr lang="en-US" dirty="0" err="1">
                <a:latin typeface="+mn-lt"/>
              </a:rPr>
              <a:t>koordinatnom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sustavu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igre</a:t>
            </a:r>
            <a:r>
              <a:rPr lang="en-US" dirty="0">
                <a:latin typeface="+mn-lt"/>
              </a:rPr>
              <a:t>.</a:t>
            </a:r>
            <a:endParaRPr lang="hr-H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0399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027294"/>
      </p:ext>
    </p:extLst>
  </p:cSld>
  <p:clrMapOvr>
    <a:masterClrMapping/>
  </p:clrMapOvr>
</p:sld>
</file>

<file path=ppt/theme/theme1.xml><?xml version="1.0" encoding="utf-8"?>
<a:theme xmlns:a="http://schemas.openxmlformats.org/drawingml/2006/main" name="Prva">
  <a:themeElements>
    <a:clrScheme name="RRI">
      <a:dk1>
        <a:srgbClr val="474747"/>
      </a:dk1>
      <a:lt1>
        <a:sysClr val="window" lastClr="FFFFFF"/>
      </a:lt1>
      <a:dk2>
        <a:srgbClr val="44546A"/>
      </a:dk2>
      <a:lt2>
        <a:srgbClr val="E7E6E6"/>
      </a:lt2>
      <a:accent1>
        <a:srgbClr val="0780C1"/>
      </a:accent1>
      <a:accent2>
        <a:srgbClr val="E98A34"/>
      </a:accent2>
      <a:accent3>
        <a:srgbClr val="B62025"/>
      </a:accent3>
      <a:accent4>
        <a:srgbClr val="169347"/>
      </a:accent4>
      <a:accent5>
        <a:srgbClr val="B71FAC"/>
      </a:accent5>
      <a:accent6>
        <a:srgbClr val="09A9BF"/>
      </a:accent6>
      <a:hlink>
        <a:srgbClr val="0780C1"/>
      </a:hlink>
      <a:folHlink>
        <a:srgbClr val="0780C1"/>
      </a:folHlink>
    </a:clrScheme>
    <a:fontScheme name="Roboto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19981</TotalTime>
  <Words>1081</Words>
  <Application>Microsoft Office PowerPoint</Application>
  <PresentationFormat>On-screen Show (16:9)</PresentationFormat>
  <Paragraphs>184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Roboto</vt:lpstr>
      <vt:lpstr>Consolas</vt:lpstr>
      <vt:lpstr>Roboto Medium</vt:lpstr>
      <vt:lpstr>Cascadia Mono</vt:lpstr>
      <vt:lpstr>Arial</vt:lpstr>
      <vt:lpstr>Bebas Neue Bold</vt:lpstr>
      <vt:lpstr>Raleway</vt:lpstr>
      <vt:lpstr>Prva</vt:lpstr>
      <vt:lpstr>PowerPoint Presentation</vt:lpstr>
      <vt:lpstr>Projectiles</vt:lpstr>
      <vt:lpstr>Kreiranje Unity projekta </vt:lpstr>
      <vt:lpstr>Dodavanje Starter Assets i Cinemachine     </vt:lpstr>
      <vt:lpstr>Kreiranje kamere koja prati igrača </vt:lpstr>
      <vt:lpstr>Kreiranje podloge</vt:lpstr>
      <vt:lpstr>Podešavanje scene </vt:lpstr>
      <vt:lpstr>Kreiranje igrača</vt:lpstr>
      <vt:lpstr>Kamera prati igrača </vt:lpstr>
      <vt:lpstr>Postavke kapsule  </vt:lpstr>
      <vt:lpstr>Postavke kamere koja prati igrača </vt:lpstr>
      <vt:lpstr>PowerPoint Presentation</vt:lpstr>
      <vt:lpstr>Kreiranje novog objekta</vt:lpstr>
      <vt:lpstr>Kreiranje Prefab za Metak </vt:lpstr>
      <vt:lpstr>Kreiranje skripte</vt:lpstr>
      <vt:lpstr>PlayerControler.cs</vt:lpstr>
      <vt:lpstr>Kreiranje „Spawning” sistema za metke </vt:lpstr>
      <vt:lpstr>PlayerControler.cs</vt:lpstr>
      <vt:lpstr>PlayerControler.cs</vt:lpstr>
      <vt:lpstr>PowerPoint Presentation</vt:lpstr>
      <vt:lpstr>Kreiranje skripte</vt:lpstr>
      <vt:lpstr>BulletController.cs</vt:lpstr>
      <vt:lpstr>PlayerController.cs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Izrada VR videoigara u Unityju</dc:title>
  <dc:creator>Spunika</dc:creator>
  <cp:lastModifiedBy>Marko Sokser</cp:lastModifiedBy>
  <cp:revision>742</cp:revision>
  <dcterms:modified xsi:type="dcterms:W3CDTF">2025-01-02T12:59:30Z</dcterms:modified>
</cp:coreProperties>
</file>