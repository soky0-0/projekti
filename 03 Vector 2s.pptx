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1" r:id="rId1"/>
  </p:sldMasterIdLst>
  <p:notesMasterIdLst>
    <p:notesMasterId r:id="rId39"/>
  </p:notesMasterIdLst>
  <p:handoutMasterIdLst>
    <p:handoutMasterId r:id="rId40"/>
  </p:handoutMasterIdLst>
  <p:sldIdLst>
    <p:sldId id="1421" r:id="rId2"/>
    <p:sldId id="1420" r:id="rId3"/>
    <p:sldId id="1422" r:id="rId4"/>
    <p:sldId id="1425" r:id="rId5"/>
    <p:sldId id="1426" r:id="rId6"/>
    <p:sldId id="1427" r:id="rId7"/>
    <p:sldId id="1428" r:id="rId8"/>
    <p:sldId id="1432" r:id="rId9"/>
    <p:sldId id="1429" r:id="rId10"/>
    <p:sldId id="1431" r:id="rId11"/>
    <p:sldId id="1451" r:id="rId12"/>
    <p:sldId id="1424" r:id="rId13"/>
    <p:sldId id="1453" r:id="rId14"/>
    <p:sldId id="1452" r:id="rId15"/>
    <p:sldId id="1433" r:id="rId16"/>
    <p:sldId id="1435" r:id="rId17"/>
    <p:sldId id="1437" r:id="rId18"/>
    <p:sldId id="1438" r:id="rId19"/>
    <p:sldId id="1439" r:id="rId20"/>
    <p:sldId id="1440" r:id="rId21"/>
    <p:sldId id="1442" r:id="rId22"/>
    <p:sldId id="1443" r:id="rId23"/>
    <p:sldId id="1444" r:id="rId24"/>
    <p:sldId id="1445" r:id="rId25"/>
    <p:sldId id="1446" r:id="rId26"/>
    <p:sldId id="1447" r:id="rId27"/>
    <p:sldId id="1448" r:id="rId28"/>
    <p:sldId id="1449" r:id="rId29"/>
    <p:sldId id="1450" r:id="rId30"/>
    <p:sldId id="1457" r:id="rId31"/>
    <p:sldId id="1423" r:id="rId32"/>
    <p:sldId id="1454" r:id="rId33"/>
    <p:sldId id="1455" r:id="rId34"/>
    <p:sldId id="1456" r:id="rId35"/>
    <p:sldId id="1458" r:id="rId36"/>
    <p:sldId id="1459" r:id="rId37"/>
    <p:sldId id="1123" r:id="rId38"/>
  </p:sldIdLst>
  <p:sldSz cx="9144000" cy="5143500" type="screen16x9"/>
  <p:notesSz cx="6858000" cy="9144000"/>
  <p:embeddedFontLst>
    <p:embeddedFont>
      <p:font typeface="Bebas Neue Bold" panose="020B0606020202050201" charset="0"/>
      <p:bold r:id="rId41"/>
    </p:embeddedFont>
    <p:embeddedFont>
      <p:font typeface="Cascadia Mono" panose="020B0609020000020004" pitchFamily="49" charset="0"/>
      <p:regular r:id="rId42"/>
      <p:bold r:id="rId43"/>
    </p:embeddedFont>
    <p:embeddedFont>
      <p:font typeface="Consolas" panose="020B0609020204030204" pitchFamily="49" charset="0"/>
      <p:regular r:id="rId44"/>
      <p:bold r:id="rId45"/>
      <p:italic r:id="rId46"/>
      <p:boldItalic r:id="rId47"/>
    </p:embeddedFont>
    <p:embeddedFont>
      <p:font typeface="Raleway" pitchFamily="2" charset="0"/>
      <p:regular r:id="rId48"/>
      <p:bold r:id="rId49"/>
      <p:italic r:id="rId50"/>
      <p:boldItalic r:id="rId51"/>
    </p:embeddedFont>
    <p:embeddedFont>
      <p:font typeface="Roboto" panose="02000000000000000000" pitchFamily="2" charset="0"/>
      <p:regular r:id="rId52"/>
      <p:bold r:id="rId53"/>
      <p:italic r:id="rId54"/>
      <p:boldItalic r:id="rId55"/>
    </p:embeddedFont>
    <p:embeddedFont>
      <p:font typeface="Roboto Medium" panose="02000000000000000000" pitchFamily="2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oony777@yahoo.com" initials="s" lastIdx="2" clrIdx="0">
    <p:extLst>
      <p:ext uri="{19B8F6BF-5375-455C-9EA6-DF929625EA0E}">
        <p15:presenceInfo xmlns:p15="http://schemas.microsoft.com/office/powerpoint/2012/main" userId="878672da6c5f86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FFFFFF"/>
    <a:srgbClr val="FB7100"/>
    <a:srgbClr val="910000"/>
    <a:srgbClr val="F600CD"/>
    <a:srgbClr val="9DB0F9"/>
    <a:srgbClr val="F6C320"/>
    <a:srgbClr val="1CDCA8"/>
    <a:srgbClr val="9DF943"/>
    <a:srgbClr val="078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6323" autoAdjust="0"/>
  </p:normalViewPr>
  <p:slideViewPr>
    <p:cSldViewPr snapToGrid="0">
      <p:cViewPr varScale="1">
        <p:scale>
          <a:sx n="105" d="100"/>
          <a:sy n="105" d="100"/>
        </p:scale>
        <p:origin x="1027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59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147591-3862-2507-6BF0-658CC51BFE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C7654-C1A3-7162-C843-B426891BA6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56DF7-F905-15E1-EE11-BEC83BF879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A05DC-F541-4D9F-8B19-7F1F6A465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955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va">
    <p:bg>
      <p:bgPr>
        <a:gradFill>
          <a:gsLst>
            <a:gs pos="0">
              <a:srgbClr val="011732"/>
            </a:gs>
            <a:gs pos="100000">
              <a:srgbClr val="00439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934166A-F7EC-4ED8-7F4D-79D15379BA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1980" y="-23808"/>
            <a:ext cx="5077071" cy="50770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057B28-DF74-4570-B101-2C8E5381BCBF}"/>
              </a:ext>
            </a:extLst>
          </p:cNvPr>
          <p:cNvSpPr txBox="1"/>
          <p:nvPr userDrawn="1"/>
        </p:nvSpPr>
        <p:spPr>
          <a:xfrm>
            <a:off x="685941" y="304065"/>
            <a:ext cx="27510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r-HR" sz="16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Raleway" panose="020B0503030101060003" pitchFamily="34" charset="0"/>
              </a:rPr>
              <a:t>FAKULTET ORGANIZACIJE</a:t>
            </a:r>
          </a:p>
          <a:p>
            <a:pPr algn="ctr"/>
            <a:r>
              <a:rPr lang="hr-HR" sz="16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Raleway" panose="020B0503030101060003" pitchFamily="34" charset="0"/>
              </a:rPr>
              <a:t>I INFORMATIKE</a:t>
            </a:r>
            <a:endParaRPr lang="en-US" sz="1600" dirty="0">
              <a:solidFill>
                <a:schemeClr val="bg1"/>
              </a:soli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Raleway" panose="020B05030301010600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F4964-3757-45DC-86B5-9F46C8AFFE15}"/>
              </a:ext>
            </a:extLst>
          </p:cNvPr>
          <p:cNvSpPr txBox="1"/>
          <p:nvPr userDrawn="1"/>
        </p:nvSpPr>
        <p:spPr>
          <a:xfrm>
            <a:off x="625025" y="1075857"/>
            <a:ext cx="2872902" cy="2314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hr-HR" sz="55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Bebas Neue Bold" panose="020B0606020202050201" pitchFamily="34" charset="0"/>
              </a:rPr>
              <a:t>RAZVOJ</a:t>
            </a:r>
          </a:p>
          <a:p>
            <a:pPr algn="ctr">
              <a:lnSpc>
                <a:spcPts val="5700"/>
              </a:lnSpc>
            </a:pPr>
            <a:r>
              <a:rPr lang="hr-HR" sz="55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Bebas Neue Bold" panose="020B0606020202050201" pitchFamily="34" charset="0"/>
              </a:rPr>
              <a:t>RAČUNALNIH</a:t>
            </a:r>
          </a:p>
          <a:p>
            <a:pPr algn="ctr">
              <a:lnSpc>
                <a:spcPts val="5700"/>
              </a:lnSpc>
            </a:pPr>
            <a:r>
              <a:rPr lang="hr-HR" sz="55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20000"/>
                    </a:prstClr>
                  </a:outerShdw>
                </a:effectLst>
                <a:latin typeface="Bebas Neue Bold" panose="020B0606020202050201" pitchFamily="34" charset="0"/>
              </a:rPr>
              <a:t>IGARA</a:t>
            </a:r>
            <a:endParaRPr lang="en-US" sz="5500" dirty="0">
              <a:solidFill>
                <a:schemeClr val="bg1"/>
              </a:solidFill>
              <a:effectLst>
                <a:outerShdw blurRad="50800" dist="63500" dir="2700000" algn="tl" rotWithShape="0">
                  <a:prstClr val="black">
                    <a:alpha val="20000"/>
                  </a:prstClr>
                </a:outerShdw>
              </a:effectLst>
              <a:latin typeface="Bebas Neue Bold" panose="020B0606020202050201" pitchFamily="34" charset="0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74A43F49-8971-41FE-ADB0-6D0E5315CF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443" y="3430665"/>
            <a:ext cx="1271048" cy="8786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C208AE-4F2E-4189-AA8D-6E4878EFDDEB}"/>
              </a:ext>
            </a:extLst>
          </p:cNvPr>
          <p:cNvSpPr txBox="1"/>
          <p:nvPr userDrawn="1"/>
        </p:nvSpPr>
        <p:spPr>
          <a:xfrm>
            <a:off x="841428" y="4495801"/>
            <a:ext cx="24400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r-HR" sz="16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Raleway" panose="020B0503030101060003" pitchFamily="34" charset="0"/>
              </a:rPr>
              <a:t>NASTAVNI MATERIJALI</a:t>
            </a:r>
            <a:endParaRPr lang="en-US" sz="1600" dirty="0">
              <a:solidFill>
                <a:schemeClr val="bg1"/>
              </a:soli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Raleway" panose="020B05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11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n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C8FA2B1-B6B2-455F-B446-59E651A80A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952019"/>
            <a:ext cx="9144000" cy="5675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>
              <a:lnSpc>
                <a:spcPts val="4500"/>
              </a:lnSpc>
              <a:defRPr sz="4500" b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bas Neue Bold" panose="020B0606020202050201" pitchFamily="34" charset="0"/>
              </a:defRPr>
            </a:lvl1pPr>
          </a:lstStyle>
          <a:p>
            <a:r>
              <a:rPr lang="hr-HR" noProof="0" dirty="0"/>
              <a:t>NASLOV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15E1AF-F51F-4DF8-A289-B034E1727E1D}"/>
              </a:ext>
            </a:extLst>
          </p:cNvPr>
          <p:cNvSpPr txBox="1"/>
          <p:nvPr userDrawn="1"/>
        </p:nvSpPr>
        <p:spPr>
          <a:xfrm>
            <a:off x="0" y="407194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6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Raleway" panose="020B0503030101060003" pitchFamily="34" charset="0"/>
              </a:rPr>
              <a:t>FAKULTET ORGANIZACIJE I INFORMATIKE</a:t>
            </a:r>
            <a:endParaRPr lang="en-US" sz="1600" dirty="0">
              <a:solidFill>
                <a:schemeClr val="bg1"/>
              </a:soli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Raleway" panose="020B05030301010600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83580-AE43-4A11-B401-899D70E50E87}"/>
              </a:ext>
            </a:extLst>
          </p:cNvPr>
          <p:cNvSpPr txBox="1"/>
          <p:nvPr userDrawn="1"/>
        </p:nvSpPr>
        <p:spPr>
          <a:xfrm>
            <a:off x="0" y="449580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600" dirty="0">
                <a:solidFill>
                  <a:schemeClr val="bg1"/>
                </a:solidFill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Raleway" panose="020B0503030101060003" pitchFamily="34" charset="0"/>
              </a:rPr>
              <a:t>RAZVOJ RAČUNALNIH IGARA</a:t>
            </a:r>
            <a:endParaRPr lang="en-US" sz="1600" dirty="0">
              <a:solidFill>
                <a:schemeClr val="bg1"/>
              </a:solidFill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  <a:latin typeface="Raleway" panose="020B0503030101060003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9D6ED4-3890-4524-86C9-50CE94AA58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4795"/>
            <a:ext cx="9143999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</a:defRPr>
            </a:lvl1pPr>
          </a:lstStyle>
          <a:p>
            <a:pPr lvl="0"/>
            <a:r>
              <a:rPr lang="hr-HR" dirty="0"/>
              <a:t>Podnaslov</a:t>
            </a:r>
          </a:p>
        </p:txBody>
      </p:sp>
    </p:spTree>
    <p:extLst>
      <p:ext uri="{BB962C8B-B14F-4D97-AF65-F5344CB8AC3E}">
        <p14:creationId xmlns:p14="http://schemas.microsoft.com/office/powerpoint/2010/main" val="17575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083111B-3B5C-443D-9E52-923C7AB8E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00" y="616607"/>
            <a:ext cx="8358000" cy="522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358775">
              <a:lnSpc>
                <a:spcPct val="100000"/>
              </a:lnSpc>
              <a:tabLst/>
              <a:defRPr sz="2200" b="1">
                <a:solidFill>
                  <a:srgbClr val="44546A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FBDB4F-503E-DE02-8608-BCA3E1B2235C}"/>
              </a:ext>
            </a:extLst>
          </p:cNvPr>
          <p:cNvSpPr txBox="1"/>
          <p:nvPr userDrawn="1"/>
        </p:nvSpPr>
        <p:spPr>
          <a:xfrm>
            <a:off x="626737" y="199129"/>
            <a:ext cx="31582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r-HR" sz="1200" dirty="0">
                <a:solidFill>
                  <a:srgbClr val="44546A"/>
                </a:solidFill>
                <a:effectLst/>
                <a:latin typeface="Roboto Medium" panose="02000000000000000000" pitchFamily="2" charset="0"/>
                <a:ea typeface="Roboto Medium" panose="02000000000000000000" pitchFamily="2" charset="0"/>
              </a:rPr>
              <a:t>FAKULTET ORGANIZACIJE I INFORMATIKE</a:t>
            </a:r>
            <a:endParaRPr lang="en-US" sz="1200" dirty="0">
              <a:solidFill>
                <a:srgbClr val="44546A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A076E-EB43-276D-4C8B-D5E9CB2C7A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7" y="214313"/>
            <a:ext cx="397669" cy="2796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DAD633-28BE-F3E3-593C-EC320355336C}"/>
              </a:ext>
            </a:extLst>
          </p:cNvPr>
          <p:cNvSpPr txBox="1"/>
          <p:nvPr userDrawn="1"/>
        </p:nvSpPr>
        <p:spPr>
          <a:xfrm>
            <a:off x="4805464" y="199128"/>
            <a:ext cx="4100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hr-HR" sz="1200" dirty="0">
                <a:solidFill>
                  <a:srgbClr val="44546A"/>
                </a:solidFill>
                <a:effectLst/>
                <a:latin typeface="Roboto Medium" panose="02000000000000000000" pitchFamily="2" charset="0"/>
                <a:ea typeface="Roboto Medium" panose="02000000000000000000" pitchFamily="2" charset="0"/>
              </a:rPr>
              <a:t>RAZVOJ RAČUNALNIH IGARA </a:t>
            </a:r>
            <a:fld id="{FF42FDE6-ED60-4005-9DEE-2C0DAB8AD57F}" type="slidenum">
              <a:rPr lang="hr-HR" sz="1200" smtClean="0">
                <a:solidFill>
                  <a:srgbClr val="44546A"/>
                </a:solidFill>
                <a:effectLst/>
                <a:latin typeface="Roboto Medium" panose="02000000000000000000" pitchFamily="2" charset="0"/>
                <a:ea typeface="Roboto Medium" panose="02000000000000000000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en-US" sz="1200" dirty="0">
              <a:solidFill>
                <a:srgbClr val="44546A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03F3B-3D2C-4BA7-8161-CBFCA6EC34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8358000" cy="3605836"/>
          </a:xfrm>
          <a:prstGeom prst="rect">
            <a:avLst/>
          </a:prstGeom>
        </p:spPr>
        <p:txBody>
          <a:bodyPr/>
          <a:lstStyle>
            <a:lvl1pPr marL="269875" indent="-269875" defTabSz="3587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>
                <a:solidFill>
                  <a:srgbClr val="44546A"/>
                </a:solidFill>
              </a:defRPr>
            </a:lvl1pPr>
            <a:lvl2pPr marL="539750" indent="-269875" defTabSz="3587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>
                <a:solidFill>
                  <a:srgbClr val="44546A"/>
                </a:solidFill>
              </a:defRPr>
            </a:lvl2pPr>
            <a:lvl3pPr marL="809625" indent="-269875" defTabSz="3587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>
                <a:solidFill>
                  <a:srgbClr val="44546A"/>
                </a:solidFill>
              </a:defRPr>
            </a:lvl3pPr>
            <a:lvl4pPr marL="1079500" indent="-269875" defTabSz="3587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>
                <a:solidFill>
                  <a:srgbClr val="44546A"/>
                </a:solidFill>
              </a:defRPr>
            </a:lvl4pPr>
            <a:lvl5pPr marL="1341438" indent="-261938" defTabSz="3587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>
                <a:solidFill>
                  <a:srgbClr val="44546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3645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70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nity3d.com/ScriptReference/MonoBehaviour.html" TargetMode="External"/><Relationship Id="rId2" Type="http://schemas.openxmlformats.org/officeDocument/2006/relationships/hyperlink" Target="https://docs.unity3d.com/ScriptReference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395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E4B09A5-3423-4059-B993-CF6E7FC13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Vector2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BD7B04-6ED7-410F-A58C-65060C1FE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5026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AA6A42-B553-4C05-9053-F48A26D4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Unity projekta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DC3056-6A93-4F7A-9A13-F05074F245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39"/>
            <a:ext cx="8358000" cy="3727117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Font typeface="Arial"/>
              <a:buNone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Osnovne postavke: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Predložak – Universal 3D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Najnovija verzija Unityja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Ime projekta – Vector 2s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Lokacija na disku – po želji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D24D0-36D0-896F-6415-1E9DD8169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267" y="1613370"/>
            <a:ext cx="4302766" cy="252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2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AA6A42-B553-4C05-9053-F48A26D4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Kratko prilagođavanje sućelja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DC3056-6A93-4F7A-9A13-F05074F245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5492162" cy="360583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Promjena boje pozadine u glavnoj kameri: </a:t>
            </a:r>
          </a:p>
          <a:p>
            <a:pPr marL="0" indent="0" defTabSz="357188">
              <a:buNone/>
            </a:pPr>
            <a:r>
              <a:rPr lang="hr-HR" dirty="0"/>
              <a:t> 	- Main Camera </a:t>
            </a:r>
          </a:p>
          <a:p>
            <a:pPr marL="0" indent="0" defTabSz="357188">
              <a:buNone/>
            </a:pPr>
            <a:r>
              <a:rPr lang="hr-HR" dirty="0"/>
              <a:t>	-Inspector</a:t>
            </a:r>
          </a:p>
          <a:p>
            <a:pPr marL="0" indent="0" defTabSz="357188">
              <a:buNone/>
            </a:pPr>
            <a:r>
              <a:rPr lang="hr-HR" dirty="0"/>
              <a:t>	-Camera </a:t>
            </a:r>
          </a:p>
          <a:p>
            <a:pPr marL="0" indent="0" defTabSz="357188">
              <a:buNone/>
            </a:pPr>
            <a:r>
              <a:rPr lang="hr-HR" dirty="0"/>
              <a:t>	-Proširi opciju Environment </a:t>
            </a:r>
          </a:p>
          <a:p>
            <a:pPr marL="0" indent="0" defTabSz="357188">
              <a:buNone/>
            </a:pPr>
            <a:r>
              <a:rPr lang="hr-HR" dirty="0"/>
              <a:t>	-Promjena Background Type u </a:t>
            </a:r>
            <a:r>
              <a:rPr lang="hr-HR" b="1" dirty="0"/>
              <a:t>Solid Color </a:t>
            </a:r>
          </a:p>
          <a:p>
            <a:pPr marL="0" indent="0" defTabSz="357188">
              <a:buNone/>
            </a:pPr>
            <a:endParaRPr lang="hr-HR" dirty="0"/>
          </a:p>
          <a:p>
            <a:pPr defTabSz="357188"/>
            <a:endParaRPr lang="hr-H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9A845-8335-64A2-8B40-32AB88C4B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980" y="1903760"/>
            <a:ext cx="2397935" cy="31236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15B43F-3D44-B457-6A7C-EFFA24535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858" y="492092"/>
            <a:ext cx="1813222" cy="132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97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A7EED-E28B-74A5-2B2C-7C4AF4EB3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6B3AA7-C055-90EE-CE7B-3A315556C9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5492162" cy="360583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Promjena default boje u komplet crno : </a:t>
            </a:r>
          </a:p>
          <a:p>
            <a:pPr marL="0" indent="0" defTabSz="357188">
              <a:buNone/>
            </a:pPr>
            <a:r>
              <a:rPr lang="hr-HR" dirty="0"/>
              <a:t> 	-odaberi Background </a:t>
            </a:r>
          </a:p>
          <a:p>
            <a:pPr marL="0" indent="0" defTabSz="357188">
              <a:buNone/>
            </a:pPr>
            <a:r>
              <a:rPr lang="hr-HR" dirty="0"/>
              <a:t>	-odaberi crnu boja ili unos heksadecimalne  vrijednosti </a:t>
            </a:r>
          </a:p>
          <a:p>
            <a:pPr marL="0" indent="0" defTabSz="357188">
              <a:buNone/>
            </a:pPr>
            <a:r>
              <a:rPr lang="hr-HR" dirty="0"/>
              <a:t>RGBA (0,0,0,0) </a:t>
            </a:r>
          </a:p>
          <a:p>
            <a:pPr marL="0" indent="0" defTabSz="357188">
              <a:buNone/>
            </a:pPr>
            <a:r>
              <a:rPr lang="hr-HR" dirty="0"/>
              <a:t>	</a:t>
            </a:r>
          </a:p>
          <a:p>
            <a:pPr marL="0" indent="0" defTabSz="357188">
              <a:buNone/>
            </a:pPr>
            <a:endParaRPr lang="hr-H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DFCA3A-DEC2-436F-7551-B3F6FB386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016" y="2228802"/>
            <a:ext cx="1372496" cy="27072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F80668-BB63-78E2-46F3-949FA7BC7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908" y="1371552"/>
            <a:ext cx="2979718" cy="47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76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B6EF-5CFE-DD20-8D47-AF422018D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DEF587-AEBF-74FF-B104-2736C2DE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3D objekta kocke 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D38536-333D-B37C-45C8-C96A0CA8B3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39"/>
            <a:ext cx="8358000" cy="3727117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Font typeface="Arial"/>
              <a:buNone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Kreiranje objekta: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Prozor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hijerarhije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gumb u obliku znaka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plus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3D Objects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&gt;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Cube 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Preimenovanje u Kocka</a:t>
            </a: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defTabSz="357188"/>
            <a:endParaRPr lang="hr-HR" dirty="0"/>
          </a:p>
          <a:p>
            <a:pPr defTabSz="357188"/>
            <a:endParaRPr lang="hr-HR" dirty="0"/>
          </a:p>
          <a:p>
            <a:pPr defTabSz="357188"/>
            <a:endParaRPr lang="hr-H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F47963-9B98-768A-66A2-85A2373F1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317" y="754742"/>
            <a:ext cx="2502683" cy="29300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0E7545-5377-0A96-80BC-3C8BE2810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317" y="4106112"/>
            <a:ext cx="2440229" cy="71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06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861FF-FDCE-0E10-A97F-6889F2FF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2CBA36-6426-B1C9-E3A5-063B5B9B1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Komponenta Transform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58B7F6-9EB6-0055-123E-71B4EBEC7B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5492162" cy="3605836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Font typeface="Arial"/>
              <a:buNone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Osnovna komponenta svih objekata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Pozicija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Rotacija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Veličina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Tri vrijednosti – prostor –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X os, Y os, Z os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Promjena vrijednosti</a:t>
            </a:r>
          </a:p>
          <a:p>
            <a:pPr marL="723900" lvl="1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Unos numeričke vrijednosti</a:t>
            </a:r>
          </a:p>
          <a:p>
            <a:pPr marL="723900" lvl="1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Alati za transformaciju – prozor scene</a:t>
            </a:r>
          </a:p>
          <a:p>
            <a:pPr marL="0" indent="0" defTabSz="357188">
              <a:buNone/>
            </a:pPr>
            <a:endParaRPr lang="hr-HR" dirty="0"/>
          </a:p>
          <a:p>
            <a:pPr defTabSz="357188"/>
            <a:r>
              <a:rPr lang="hr-HR" dirty="0"/>
              <a:t>Vrijednosti pozicije i rotacije u ovom primjeru proizvoljne </a:t>
            </a:r>
          </a:p>
          <a:p>
            <a:pPr defTabSz="357188"/>
            <a:r>
              <a:rPr lang="hr-HR" dirty="0"/>
              <a:t>Kocku potrebno pozicionirati da bude vidljiva na glavnoj kameri </a:t>
            </a:r>
          </a:p>
          <a:p>
            <a:pPr defTabSz="357188"/>
            <a:endParaRPr lang="hr-HR" dirty="0"/>
          </a:p>
          <a:p>
            <a:pPr defTabSz="357188"/>
            <a:endParaRPr lang="hr-HR" dirty="0"/>
          </a:p>
          <a:p>
            <a:pPr defTabSz="357188"/>
            <a:endParaRPr lang="hr-H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9D2D84-5E8E-6FF7-36AF-777D70C19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785" y="878057"/>
            <a:ext cx="2940406" cy="7577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3C3654-B368-E3A2-5B60-99FD9D8EA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162" y="2150598"/>
            <a:ext cx="2981741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5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FFF66-7DE0-0382-495A-2D4E74C1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C419E2-AD9B-7831-AAC1-D05D8356D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9B596B5-F51F-5C2F-E94C-C52E7C80C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r-HR" dirty="0"/>
              <a:t>Pomicanje kocke </a:t>
            </a:r>
          </a:p>
        </p:txBody>
      </p:sp>
    </p:spTree>
    <p:extLst>
      <p:ext uri="{BB962C8B-B14F-4D97-AF65-F5344CB8AC3E}">
        <p14:creationId xmlns:p14="http://schemas.microsoft.com/office/powerpoint/2010/main" val="3341563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CA84F-8576-B890-7A5F-49AD6910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C8575B-9148-AFE1-64CD-0B3CC4D80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skripte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E475A2-F9CD-F139-91B0-977C2BA0E1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39507"/>
            <a:ext cx="5507057" cy="380336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Skriptu možemo kreirati na nekoliko načina</a:t>
            </a:r>
            <a:endParaRPr lang="hr-HR" dirty="0"/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Prozor projekta – gumb u obliku znaka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plus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Create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&gt;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Scripting &gt; MonoBehaviourScript</a:t>
            </a:r>
            <a:endParaRPr lang="hr-HR" sz="1600" b="1" dirty="0">
              <a:latin typeface="Roboto"/>
              <a:ea typeface="Roboto"/>
              <a:cs typeface="Roboto"/>
              <a:sym typeface="Roboto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Desni klik na prazan prostor prozora projekta –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Create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&gt; </a:t>
            </a:r>
            <a:r>
              <a:rPr lang="hr-HR" b="1" dirty="0">
                <a:latin typeface="Roboto"/>
                <a:ea typeface="Roboto"/>
                <a:cs typeface="Roboto"/>
                <a:sym typeface="Roboto"/>
              </a:rPr>
              <a:t>MonoBehaviourScript</a:t>
            </a:r>
            <a:endParaRPr lang="hr-HR" sz="1600" b="1" dirty="0">
              <a:latin typeface="Roboto"/>
              <a:ea typeface="Roboto"/>
              <a:cs typeface="Roboto"/>
              <a:sym typeface="Roboto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Izravno na objektu –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Inspector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Add Component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– upis imena skripte</a:t>
            </a:r>
          </a:p>
          <a:p>
            <a:pPr marL="723900" lvl="1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Skripta se kreira u direktoriju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Assets ,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moguće i kreiranje posebne mape za Skripte i izravno kreiranje u njoj </a:t>
            </a:r>
            <a:endParaRPr lang="hr-HR" sz="1600" b="1" dirty="0">
              <a:latin typeface="Roboto"/>
              <a:ea typeface="Roboto"/>
              <a:cs typeface="Roboto"/>
              <a:sym typeface="Roboto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U nazivu ne koristiti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dijakritičke znakove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(č, ć, š, đ, ž)</a:t>
            </a:r>
          </a:p>
          <a:p>
            <a:pPr marL="723900" lvl="1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U skripti se kreira klasa istog imena</a:t>
            </a:r>
          </a:p>
          <a:p>
            <a:pPr marL="723900" lvl="1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OPREZ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ako mijenjate ime skripte morate promijeniti i ime klase</a:t>
            </a:r>
          </a:p>
          <a:p>
            <a:pPr marL="266700" indent="-266700">
              <a:lnSpc>
                <a:spcPct val="100000"/>
              </a:lnSpc>
              <a:spcAft>
                <a:spcPts val="600"/>
              </a:spcAft>
              <a:buFont typeface="Roboto" panose="02000000000000000000" pitchFamily="2" charset="0"/>
              <a:buChar char="−"/>
            </a:pP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defTabSz="357188"/>
            <a:endParaRPr lang="hr-H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9B3E19-B1CA-32B6-E302-476223FA6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315" y="1006766"/>
            <a:ext cx="2762860" cy="5602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0E98C1-B25E-5D56-33B3-4B1CBB61D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056" y="1812355"/>
            <a:ext cx="3059939" cy="199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274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9B76-A97A-5238-CDED-A33349C2C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E8005B-ED67-89FD-B903-31DB070C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Povezivanje skripte za Kockom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EF32CA-662E-846C-1F22-F990A6625F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1" y="1156939"/>
            <a:ext cx="6179250" cy="3727117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Pozicioniraš se na Kocku i zatim u Inspector prozoru odabereš sljedeće: </a:t>
            </a:r>
          </a:p>
          <a:p>
            <a:pPr defTabSz="357188"/>
            <a:r>
              <a:rPr lang="hr-HR" dirty="0"/>
              <a:t>Klikneš  na </a:t>
            </a:r>
            <a:r>
              <a:rPr lang="hr-HR" b="1" dirty="0"/>
              <a:t>Add Component </a:t>
            </a:r>
          </a:p>
          <a:p>
            <a:pPr defTabSz="357188"/>
            <a:r>
              <a:rPr lang="hr-HR" dirty="0"/>
              <a:t>Napišeš naziv kreirane skripte  </a:t>
            </a:r>
            <a:r>
              <a:rPr lang="hr-HR" b="1" dirty="0"/>
              <a:t>kockaUpravljanje</a:t>
            </a:r>
            <a:r>
              <a:rPr lang="hr-HR" dirty="0"/>
              <a:t> </a:t>
            </a:r>
          </a:p>
          <a:p>
            <a:pPr defTabSz="357188"/>
            <a:r>
              <a:rPr lang="hr-HR" dirty="0"/>
              <a:t>I lijevi klik da se skripta otvori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1A761E-B69A-2811-25DF-DF5622632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1" y="1417028"/>
            <a:ext cx="1940102" cy="230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97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0E001-536D-7939-D1D9-AC09F486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B22378-472D-EE7E-6BAE-BED99899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hr-HR" sz="22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Uređivanje skripte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651099-B054-3D99-C579-6D2C8700D9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56940"/>
            <a:ext cx="5507057" cy="3803366"/>
          </a:xfrm>
        </p:spPr>
        <p:txBody>
          <a:bodyPr/>
          <a:lstStyle/>
          <a:p>
            <a:pPr marL="266700" indent="-266700">
              <a:lnSpc>
                <a:spcPct val="100000"/>
              </a:lnSpc>
              <a:spcAft>
                <a:spcPts val="600"/>
              </a:spcAft>
              <a:buFont typeface="Roboto" panose="02000000000000000000" pitchFamily="2" charset="0"/>
              <a:buChar char="−"/>
            </a:pP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lnSpc>
                <a:spcPct val="100000"/>
              </a:lnSpc>
              <a:spcAft>
                <a:spcPts val="300"/>
              </a:spcAft>
              <a:buFont typeface="Arial"/>
              <a:buNone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Otvaranje skripte: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Dvoklik na skriptu putem prozora projekta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Komponenta na objektu –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dvoklik na ime skripte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defTabSz="357188"/>
            <a:endParaRPr lang="hr-H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D7A652-073F-0425-0379-3A2F5C7CA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315" y="3325204"/>
            <a:ext cx="1101627" cy="10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06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AA6A42-B553-4C05-9053-F48A26D4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kockaUpravljanje.cs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DC3056-6A93-4F7A-9A13-F05074F245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UnityEngine;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System.Collections;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System.Collections.Generic;</a:t>
            </a:r>
          </a:p>
          <a:p>
            <a:pPr marL="0" indent="0">
              <a:buNone/>
            </a:pP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10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kockaUpravljanje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MonoBehaviour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Start is called once before the first execution of Update after the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MonoBehaviou</a:t>
            </a:r>
            <a:r>
              <a:rPr lang="hr-HR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is created</a:t>
            </a:r>
            <a:endParaRPr lang="en-US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Start()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Update is called once per frame</a:t>
            </a:r>
            <a:endParaRPr lang="en-US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Update()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</a:t>
            </a:r>
          </a:p>
          <a:p>
            <a:pPr marL="0" indent="0">
              <a:buNone/>
            </a:pPr>
            <a:endParaRPr lang="hr-H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r-HR" sz="1400" dirty="0">
              <a:solidFill>
                <a:schemeClr val="tx1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lang="hr-H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334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7F04F-E65C-64A5-73D5-2EBE759A9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818875-B61D-852A-6F90-8D4F7825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kockaUpravljanje.cs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030F45-27BD-B56C-A92D-9AF21C030F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8358000" cy="946180"/>
          </a:xfrm>
        </p:spPr>
        <p:txBody>
          <a:bodyPr/>
          <a:lstStyle/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UnityEngine;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System.Collections;</a:t>
            </a:r>
          </a:p>
          <a:p>
            <a:pPr marL="0" indent="0">
              <a:buNone/>
            </a:pPr>
            <a:r>
              <a:rPr lang="hr-HR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hr-HR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System.Collections.Generic;</a:t>
            </a:r>
          </a:p>
          <a:p>
            <a:pPr marL="0" indent="0">
              <a:buNone/>
            </a:pP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r-H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r-HR" sz="1400" dirty="0">
              <a:solidFill>
                <a:schemeClr val="tx1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lang="hr-HR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CDF668-DC22-81A4-0A79-987E527A54D4}"/>
              </a:ext>
            </a:extLst>
          </p:cNvPr>
          <p:cNvSpPr txBox="1"/>
          <p:nvPr/>
        </p:nvSpPr>
        <p:spPr>
          <a:xfrm>
            <a:off x="525780" y="2103120"/>
            <a:ext cx="7966710" cy="2562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solidFill>
                  <a:srgbClr val="0780C1"/>
                </a:solidFill>
                <a:latin typeface="Roboto"/>
                <a:ea typeface="Roboto"/>
                <a:cs typeface="Roboto"/>
                <a:sym typeface="Roboto"/>
              </a:rPr>
              <a:t>using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uključivanje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  <a:hlinkClick r:id="rId2"/>
              </a:rPr>
              <a:t>biblioteka</a:t>
            </a: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176213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hr-HR" sz="1600" dirty="0">
                <a:solidFill>
                  <a:srgbClr val="0780C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</a:t>
            </a:r>
            <a:r>
              <a:rPr lang="hr-HR" sz="1600" dirty="0">
                <a:solidFill>
                  <a:srgbClr val="474747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kockaUpravljanje : MonoBehaviour {</a:t>
            </a:r>
          </a:p>
          <a:p>
            <a:pPr marL="176213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176213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Definicija klase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kockaUpravljanje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naša klasa proizvoljnog imena</a:t>
            </a:r>
          </a:p>
          <a:p>
            <a:pPr marL="176213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Nasljeđivanje – klasa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  <a:hlinkClick r:id="rId3"/>
              </a:rPr>
              <a:t>MonoBehaviour</a:t>
            </a: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marL="633413" lvl="1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Različite klase za brojne funkcionalnosti</a:t>
            </a:r>
          </a:p>
          <a:p>
            <a:pPr marL="633413" lvl="1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Animator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upravljanje animacijama objekta</a:t>
            </a:r>
          </a:p>
          <a:p>
            <a:pPr marL="633413" lvl="1" indent="-176213">
              <a:lnSpc>
                <a:spcPct val="100000"/>
              </a:lnSpc>
              <a:buFont typeface="Roboto" panose="02000000000000000000" pitchFamily="2" charset="0"/>
              <a:buChar char="−"/>
            </a:pP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AudioClip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reprodukcija zvuka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68708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D559-ABEE-0BEF-7CA3-F89417BAB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6E2BC7-8202-9632-299D-CB140196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Testiranje input fukcionalnosti - kockaUpravljanje.cs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CA13F1-BC82-D4B7-3F59-DC032AEB9D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defTabSz="357188">
              <a:buNone/>
            </a:pPr>
            <a:endParaRPr lang="hr-HR" sz="1400" dirty="0">
              <a:solidFill>
                <a:schemeClr val="tx1">
                  <a:lumMod val="50000"/>
                </a:schemeClr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 defTabSz="357188">
              <a:buNone/>
            </a:pP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Update()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{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(Input.GetKey(</a:t>
            </a:r>
            <a:r>
              <a:rPr lang="hr-H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"space"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Debug.Log (</a:t>
            </a:r>
            <a:r>
              <a:rPr lang="hr-H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"Pritisnut je space! "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hr-HR" sz="1400" dirty="0">
              <a:solidFill>
                <a:schemeClr val="tx1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lang="hr-H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455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5A9F2-C3BC-11EB-B92B-428A57B6E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7D8B87-DC70-B1B7-A896-20B5F2734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A7BAFD-87FB-88CE-F4EC-469D872A34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5492162" cy="360583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Vratimo se u Unity i otvorimo prozor Console </a:t>
            </a:r>
          </a:p>
          <a:p>
            <a:pPr defTabSz="357188"/>
            <a:r>
              <a:rPr lang="hr-HR" dirty="0"/>
              <a:t>Pokrenemo igru pritiskom na </a:t>
            </a:r>
            <a:r>
              <a:rPr lang="hr-HR" b="1" dirty="0"/>
              <a:t>Play</a:t>
            </a:r>
            <a:r>
              <a:rPr lang="hr-HR" dirty="0"/>
              <a:t> i zatim pritisnemo </a:t>
            </a:r>
            <a:r>
              <a:rPr lang="hr-HR" b="1" dirty="0"/>
              <a:t>Space</a:t>
            </a:r>
            <a:r>
              <a:rPr lang="hr-HR" dirty="0"/>
              <a:t> </a:t>
            </a:r>
          </a:p>
          <a:p>
            <a:pPr defTabSz="357188"/>
            <a:r>
              <a:rPr lang="hr-HR" dirty="0"/>
              <a:t>Vidimo kako se u konzoli ispisuje poruka </a:t>
            </a:r>
          </a:p>
          <a:p>
            <a:pPr defTabSz="357188"/>
            <a:endParaRPr lang="hr-HR" dirty="0"/>
          </a:p>
          <a:p>
            <a:pPr defTabSz="357188"/>
            <a:endParaRPr lang="hr-H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69788A-0631-A6B7-9576-A58BAF5AA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943" y="1345250"/>
            <a:ext cx="1874057" cy="360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B60765-5A77-E92D-7EA8-7184226AC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086" y="2336365"/>
            <a:ext cx="4300304" cy="256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73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4481D-AF22-A2E2-3A63-8E59EDE4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BC7FF8-DAFA-0AE6-85A7-AB38DFDE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357188"/>
            <a:r>
              <a:rPr lang="hr-HR" dirty="0"/>
              <a:t>Pomicanje kocke po X i Y osi: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186DC0-3445-6F46-7607-3ED3001633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8358000" cy="2169190"/>
          </a:xfrm>
        </p:spPr>
        <p:txBody>
          <a:bodyPr/>
          <a:lstStyle/>
          <a:p>
            <a:pPr marL="0" indent="0" defTabSz="357188">
              <a:buNone/>
            </a:pPr>
            <a:endParaRPr lang="hr-HR" sz="1400" dirty="0">
              <a:solidFill>
                <a:schemeClr val="tx1">
                  <a:lumMod val="50000"/>
                </a:schemeClr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Update()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(Input.GetKey(</a:t>
            </a:r>
            <a:r>
              <a:rPr lang="hr-H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"space"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Vector2(1, 0.5f);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  <a:endParaRPr lang="hr-HR" sz="1400" dirty="0">
              <a:solidFill>
                <a:schemeClr val="tx1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lang="hr-HR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C71D39-F49D-2DC1-77CA-4E8C347ED887}"/>
              </a:ext>
            </a:extLst>
          </p:cNvPr>
          <p:cNvSpPr txBox="1"/>
          <p:nvPr/>
        </p:nvSpPr>
        <p:spPr>
          <a:xfrm>
            <a:off x="502920" y="3474720"/>
            <a:ext cx="800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hr-HR" dirty="0">
                <a:solidFill>
                  <a:schemeClr val="tx1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-Pomicanje pozicije kocke na 1 po X osi i 0,5 na Y osi </a:t>
            </a:r>
            <a:endParaRPr lang="hr-HR" b="1" dirty="0">
              <a:solidFill>
                <a:srgbClr val="C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1" indent="0">
              <a:lnSpc>
                <a:spcPct val="100000"/>
              </a:lnSpc>
              <a:spcAft>
                <a:spcPts val="300"/>
              </a:spcAft>
              <a:buNone/>
            </a:pPr>
            <a:endParaRPr lang="hr-HR" sz="1400" b="1" dirty="0">
              <a:solidFill>
                <a:srgbClr val="C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1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hr-HR" sz="1400"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OPREZ: </a:t>
            </a:r>
            <a:r>
              <a:rPr lang="hr-HR" sz="1400" dirty="0">
                <a:latin typeface="Roboto"/>
                <a:ea typeface="Roboto"/>
                <a:cs typeface="Roboto"/>
                <a:sym typeface="Roboto"/>
              </a:rPr>
              <a:t>Snimite skriptu kako bi se ažurirale promjene</a:t>
            </a:r>
          </a:p>
          <a:p>
            <a:pPr marL="0" lvl="1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hr-HR" sz="1400" b="1" dirty="0">
                <a:solidFill>
                  <a:srgbClr val="0780C1"/>
                </a:solidFill>
                <a:latin typeface="Roboto"/>
                <a:ea typeface="Roboto"/>
                <a:cs typeface="Roboto"/>
                <a:sym typeface="Roboto"/>
              </a:rPr>
              <a:t>Testiranje: </a:t>
            </a:r>
            <a:r>
              <a:rPr lang="hr-HR" sz="1400" dirty="0">
                <a:latin typeface="Roboto"/>
                <a:ea typeface="Roboto"/>
                <a:cs typeface="Roboto"/>
                <a:sym typeface="Roboto"/>
              </a:rPr>
              <a:t>Testirajte izvršavanje metode </a:t>
            </a:r>
            <a:r>
              <a:rPr lang="hr-HR" sz="1400" b="1" dirty="0">
                <a:latin typeface="Roboto"/>
                <a:ea typeface="Roboto"/>
                <a:cs typeface="Roboto"/>
                <a:sym typeface="Roboto"/>
              </a:rPr>
              <a:t>Start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98636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E11D1-5F0F-C247-D8B8-CDC53D15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675710-8810-B9D9-1184-86F4087943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768832"/>
            <a:ext cx="5492162" cy="360583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Pokretanjem igre vidimo sljedeće: </a:t>
            </a:r>
          </a:p>
          <a:p>
            <a:pPr marL="0" indent="0" defTabSz="357188">
              <a:buNone/>
            </a:pPr>
            <a:r>
              <a:rPr lang="hr-HR" dirty="0"/>
              <a:t> 	-Pritisnemo </a:t>
            </a:r>
            <a:r>
              <a:rPr lang="hr-HR" b="1" dirty="0"/>
              <a:t>Space</a:t>
            </a:r>
            <a:r>
              <a:rPr lang="hr-HR" dirty="0"/>
              <a:t> </a:t>
            </a:r>
          </a:p>
          <a:p>
            <a:pPr marL="0" indent="0" defTabSz="357188">
              <a:buNone/>
            </a:pPr>
            <a:r>
              <a:rPr lang="hr-HR" dirty="0"/>
              <a:t>	- Vidimo kako je kocka promijenila  svoju poziciju na postavljene vrijednosti </a:t>
            </a:r>
          </a:p>
          <a:p>
            <a:pPr defTabSz="357188"/>
            <a:endParaRPr lang="hr-H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DD6B5A-2FA2-22F2-DCC6-EE17D739B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28" y="2500112"/>
            <a:ext cx="6183086" cy="215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45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DA89D-A2AA-7856-FB14-ACC8197FE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71EC31-019C-ED2F-BBF0-68CE3B8A4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357188"/>
            <a:r>
              <a:rPr lang="hr-HR" dirty="0"/>
              <a:t>Pomicanje kocke po X, Y, Z osi: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878F30-D3CD-1B17-2E26-0CD3B1A952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2595809"/>
            <a:ext cx="8358000" cy="2184400"/>
          </a:xfrm>
        </p:spPr>
        <p:txBody>
          <a:bodyPr/>
          <a:lstStyle/>
          <a:p>
            <a:pPr marL="0" indent="0">
              <a:buNone/>
            </a:pPr>
            <a:endParaRPr lang="hr-H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Update()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(Input.GetKey(</a:t>
            </a:r>
            <a:r>
              <a:rPr lang="hr-H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"space"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Vector3 (1, 0.5f, -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4.5f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hr-HR" dirty="0">
              <a:latin typeface="Consolas" panose="020B0609020204030204" pitchFamily="49" charset="0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72D89C0-A60F-5156-5EEE-FBDC044595BB}"/>
              </a:ext>
            </a:extLst>
          </p:cNvPr>
          <p:cNvSpPr txBox="1">
            <a:spLocks/>
          </p:cNvSpPr>
          <p:nvPr/>
        </p:nvSpPr>
        <p:spPr>
          <a:xfrm>
            <a:off x="393000" y="1156940"/>
            <a:ext cx="5492162" cy="3605836"/>
          </a:xfrm>
          <a:prstGeom prst="rect">
            <a:avLst/>
          </a:prstGeom>
        </p:spPr>
        <p:txBody>
          <a:bodyPr/>
          <a:lstStyle>
            <a:lvl1pPr marL="269875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1pPr>
            <a:lvl2pPr marL="539750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2pPr>
            <a:lvl3pPr marL="809625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3pPr>
            <a:lvl4pPr marL="1079500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4pPr>
            <a:lvl5pPr marL="1341438" indent="-261938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7188">
              <a:buClrTx/>
            </a:pPr>
            <a:endParaRPr lang="hr-HR" dirty="0"/>
          </a:p>
          <a:p>
            <a:pPr defTabSz="357188">
              <a:buClrTx/>
            </a:pPr>
            <a:endParaRPr lang="hr-HR" dirty="0"/>
          </a:p>
          <a:p>
            <a:pPr defTabSz="357188">
              <a:buClrTx/>
            </a:pPr>
            <a:endParaRPr lang="hr-HR" dirty="0"/>
          </a:p>
          <a:p>
            <a:pPr defTabSz="357188">
              <a:buClrTx/>
            </a:pPr>
            <a:endParaRPr lang="hr-HR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5E507E4-0143-9014-0B4B-6DD81DB11FB6}"/>
              </a:ext>
            </a:extLst>
          </p:cNvPr>
          <p:cNvSpPr txBox="1">
            <a:spLocks/>
          </p:cNvSpPr>
          <p:nvPr/>
        </p:nvSpPr>
        <p:spPr>
          <a:xfrm>
            <a:off x="545400" y="1309340"/>
            <a:ext cx="5492162" cy="3605836"/>
          </a:xfrm>
          <a:prstGeom prst="rect">
            <a:avLst/>
          </a:prstGeom>
        </p:spPr>
        <p:txBody>
          <a:bodyPr/>
          <a:lstStyle>
            <a:lvl1pPr marL="269875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1pPr>
            <a:lvl2pPr marL="539750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2pPr>
            <a:lvl3pPr marL="809625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3pPr>
            <a:lvl4pPr marL="1079500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4pPr>
            <a:lvl5pPr marL="1341438" indent="-261938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7188">
              <a:buClrTx/>
            </a:pPr>
            <a:endParaRPr lang="hr-HR"/>
          </a:p>
          <a:p>
            <a:pPr defTabSz="357188">
              <a:buClrTx/>
            </a:pPr>
            <a:endParaRPr lang="hr-H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180B3-64C7-253E-5C3F-16EEF7606CCF}"/>
              </a:ext>
            </a:extLst>
          </p:cNvPr>
          <p:cNvSpPr txBox="1"/>
          <p:nvPr/>
        </p:nvSpPr>
        <p:spPr>
          <a:xfrm>
            <a:off x="393000" y="1568597"/>
            <a:ext cx="63818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Jednostavna promjena iz Vector2 u Vector3 nam omogućava upravljanje Z osi</a:t>
            </a:r>
          </a:p>
          <a:p>
            <a:endParaRPr lang="hr-HR" dirty="0"/>
          </a:p>
          <a:p>
            <a:pPr marL="0" lvl="1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hr-HR" sz="1400" b="1" dirty="0">
                <a:solidFill>
                  <a:srgbClr val="0780C1"/>
                </a:solidFill>
                <a:latin typeface="Roboto"/>
                <a:ea typeface="Roboto"/>
                <a:cs typeface="Roboto"/>
                <a:sym typeface="Roboto"/>
              </a:rPr>
              <a:t>Testiranje: </a:t>
            </a:r>
            <a:r>
              <a:rPr lang="hr-HR" sz="1400" dirty="0">
                <a:latin typeface="Roboto"/>
                <a:ea typeface="Roboto"/>
                <a:cs typeface="Roboto"/>
                <a:sym typeface="Roboto"/>
              </a:rPr>
              <a:t>Testirajte izvršavanje metode </a:t>
            </a:r>
            <a:r>
              <a:rPr lang="hr-HR" sz="1400" b="1" dirty="0">
                <a:latin typeface="Roboto"/>
                <a:ea typeface="Roboto"/>
                <a:cs typeface="Roboto"/>
                <a:sym typeface="Roboto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3337647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4906A-914D-E1EC-B4CD-57B1A0B42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2D8E6-1E5A-22D3-BCD7-AB92091835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r-HR" dirty="0"/>
              <a:t>Promjena boje</a:t>
            </a:r>
          </a:p>
        </p:txBody>
      </p:sp>
    </p:spTree>
    <p:extLst>
      <p:ext uri="{BB962C8B-B14F-4D97-AF65-F5344CB8AC3E}">
        <p14:creationId xmlns:p14="http://schemas.microsoft.com/office/powerpoint/2010/main" val="539872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A6432-6284-57DA-24D6-4BA429D46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48C97A-304C-AE7E-CE8A-4626250B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Promjena boje kocke u crveno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907B42-3BB3-8D09-893D-8CD21AF9D3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5492162" cy="360583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Koristimo Vector4 za promjenu boja kocke: </a:t>
            </a:r>
          </a:p>
          <a:p>
            <a:pPr marL="0" indent="0" defTabSz="357188">
              <a:buNone/>
            </a:pPr>
            <a:r>
              <a:rPr lang="hr-HR" dirty="0"/>
              <a:t>	-Vector4 je vezan uz </a:t>
            </a:r>
            <a:r>
              <a:rPr lang="hr-HR" b="1" dirty="0"/>
              <a:t>RGBA</a:t>
            </a:r>
            <a:r>
              <a:rPr lang="hr-HR" dirty="0"/>
              <a:t> sustav za boje </a:t>
            </a:r>
          </a:p>
          <a:p>
            <a:pPr marL="0" indent="0" defTabSz="357188">
              <a:buNone/>
            </a:pPr>
            <a:r>
              <a:rPr lang="hr-HR" dirty="0"/>
              <a:t>	-A je transparentnost  objekta </a:t>
            </a:r>
            <a:r>
              <a:rPr lang="hr-HR" b="1" dirty="0"/>
              <a:t>( od 0 do 1</a:t>
            </a:r>
            <a:r>
              <a:rPr lang="hr-HR" dirty="0"/>
              <a:t>) </a:t>
            </a:r>
          </a:p>
          <a:p>
            <a:pPr marL="0" indent="0" defTabSz="357188">
              <a:buNone/>
            </a:pPr>
            <a:r>
              <a:rPr lang="hr-HR" dirty="0"/>
              <a:t>	-0 označava 0% dok 1 označava 100% </a:t>
            </a:r>
          </a:p>
          <a:p>
            <a:pPr marL="0" indent="0" defTabSz="357188">
              <a:buNone/>
            </a:pPr>
            <a:r>
              <a:rPr lang="hr-HR" dirty="0"/>
              <a:t>	-Postavimo da pritiskom na </a:t>
            </a:r>
            <a:r>
              <a:rPr lang="hr-HR" b="1" dirty="0"/>
              <a:t>return</a:t>
            </a:r>
            <a:r>
              <a:rPr lang="hr-HR" dirty="0"/>
              <a:t>/</a:t>
            </a:r>
            <a:r>
              <a:rPr lang="hr-HR" b="1" dirty="0"/>
              <a:t>Enter</a:t>
            </a:r>
            <a:r>
              <a:rPr lang="hr-HR" dirty="0"/>
              <a:t> boja kocke postane crvena</a:t>
            </a:r>
          </a:p>
          <a:p>
            <a:pPr defTabSz="357188"/>
            <a:endParaRPr lang="hr-HR" dirty="0"/>
          </a:p>
          <a:p>
            <a:pPr marL="0" indent="0" defTabSz="357188">
              <a:buNone/>
            </a:pPr>
            <a:endParaRPr lang="hr-HR" dirty="0"/>
          </a:p>
          <a:p>
            <a:pPr defTabSz="357188"/>
            <a:endParaRPr lang="hr-HR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0A5839E3-EE48-A38A-0F6A-D13EA7C6EBED}"/>
              </a:ext>
            </a:extLst>
          </p:cNvPr>
          <p:cNvSpPr txBox="1">
            <a:spLocks/>
          </p:cNvSpPr>
          <p:nvPr/>
        </p:nvSpPr>
        <p:spPr>
          <a:xfrm>
            <a:off x="255114" y="2866571"/>
            <a:ext cx="8358000" cy="2020207"/>
          </a:xfrm>
          <a:prstGeom prst="rect">
            <a:avLst/>
          </a:prstGeom>
        </p:spPr>
        <p:txBody>
          <a:bodyPr/>
          <a:lstStyle>
            <a:lvl1pPr marL="269875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1pPr>
            <a:lvl2pPr marL="539750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2pPr>
            <a:lvl3pPr marL="809625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3pPr>
            <a:lvl4pPr marL="1079500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4pPr>
            <a:lvl5pPr marL="1341438" indent="-261938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Roboto" panose="02000000000000000000" pitchFamily="2" charset="0"/>
              <a:buNone/>
            </a:pPr>
            <a:endParaRPr lang="hr-HR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ClrTx/>
              <a:buFont typeface="Roboto" panose="02000000000000000000" pitchFamily="2" charset="0"/>
              <a:buNone/>
            </a:pP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Update()</a:t>
            </a:r>
          </a:p>
          <a:p>
            <a:pPr marL="0" indent="0">
              <a:buClrTx/>
              <a:buFont typeface="Roboto" panose="02000000000000000000" pitchFamily="2" charset="0"/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ClrTx/>
              <a:buFont typeface="Roboto" panose="02000000000000000000" pitchFamily="2" charset="0"/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Input.GetKey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"return"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//Enter</a:t>
            </a:r>
          </a:p>
          <a:p>
            <a:pPr marL="0" indent="0">
              <a:buClrTx/>
              <a:buFont typeface="Roboto" panose="02000000000000000000" pitchFamily="2" charset="0"/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ClrTx/>
              <a:buFont typeface="Roboto" panose="02000000000000000000" pitchFamily="2" charset="0"/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.GetComponent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&lt;Renderer&gt;().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material.color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Vector4 (</a:t>
            </a:r>
            <a:r>
              <a:rPr lang="en-US" sz="14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1, 0, 0, 1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ClrTx/>
              <a:buFont typeface="Roboto" panose="02000000000000000000" pitchFamily="2" charset="0"/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ClrTx/>
              <a:buFont typeface="Roboto" panose="02000000000000000000" pitchFamily="2" charset="0"/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hr-H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671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3C511-67C4-54E4-BFC5-6034B98A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9FA5D2-C00D-686F-77C8-547D3AB88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Promjena boje kocke u crveno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F8C07B-5CBC-7544-E598-D36A9E59F2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5492162" cy="3605836"/>
          </a:xfrm>
        </p:spPr>
        <p:txBody>
          <a:bodyPr/>
          <a:lstStyle/>
          <a:p>
            <a:pPr marL="0" lvl="1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hr-HR" sz="1600"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OPREZ: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Snimite skriptu kako bi se ažurirale promjene</a:t>
            </a:r>
          </a:p>
          <a:p>
            <a:pPr marL="0" lvl="1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hr-HR" sz="1600" b="1" dirty="0">
                <a:solidFill>
                  <a:srgbClr val="0780C1"/>
                </a:solidFill>
                <a:latin typeface="Roboto"/>
                <a:ea typeface="Roboto"/>
                <a:cs typeface="Roboto"/>
                <a:sym typeface="Roboto"/>
              </a:rPr>
              <a:t>Testiranje: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Testirajte izvršavanje metode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Start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Pritiskom na </a:t>
            </a:r>
            <a:r>
              <a:rPr lang="hr-HR" b="1" dirty="0"/>
              <a:t>Enter</a:t>
            </a:r>
            <a:r>
              <a:rPr lang="hr-HR" dirty="0"/>
              <a:t> boja kocke se promjeni u crveno 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Također pritiskom na </a:t>
            </a:r>
            <a:r>
              <a:rPr lang="hr-HR" b="1" dirty="0"/>
              <a:t>space</a:t>
            </a:r>
            <a:r>
              <a:rPr lang="hr-HR" dirty="0"/>
              <a:t> pozicija kocke se </a:t>
            </a:r>
          </a:p>
          <a:p>
            <a:pPr marL="0" indent="0" defTabSz="357188">
              <a:buNone/>
            </a:pPr>
            <a:r>
              <a:rPr lang="hr-HR" dirty="0"/>
              <a:t>promjeni 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- Kao što vidimo imamo razne mogućnosti kombiniranja promjena pozicija kao i promjena boja po želji</a:t>
            </a:r>
          </a:p>
          <a:p>
            <a:pPr marL="0" indent="0" defTabSz="357188">
              <a:buNone/>
            </a:pPr>
            <a:endParaRPr lang="hr-HR" dirty="0"/>
          </a:p>
          <a:p>
            <a:pPr defTabSz="357188"/>
            <a:endParaRPr lang="hr-H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6C5A34-D7AE-5AF0-DD57-A37133F83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906" y="1055008"/>
            <a:ext cx="3237094" cy="15167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B91BEB-B9C0-CB38-70C5-8F38AA65B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582" y="2727169"/>
            <a:ext cx="2619741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71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B5F7A-D83C-E8B6-C343-3BADBEC6F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301B-E204-F9D6-D91D-C4CC95E2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94412-A161-39D1-13D8-D0504C7DFC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r-HR" dirty="0"/>
              <a:t>Upravljanje transparetnosti </a:t>
            </a:r>
          </a:p>
        </p:txBody>
      </p:sp>
    </p:spTree>
    <p:extLst>
      <p:ext uri="{BB962C8B-B14F-4D97-AF65-F5344CB8AC3E}">
        <p14:creationId xmlns:p14="http://schemas.microsoft.com/office/powerpoint/2010/main" val="1001505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7EB70-A120-3B7F-E858-8060F771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235876-DADE-158B-55CE-8E51E531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Problem kod pormjene razine transparetnosti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954EAE-80E5-2976-949A-37F5500F7C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999" y="1156940"/>
            <a:ext cx="8250257" cy="3605836"/>
          </a:xfrm>
        </p:spPr>
        <p:txBody>
          <a:bodyPr/>
          <a:lstStyle/>
          <a:p>
            <a:pPr defTabSz="357188"/>
            <a:r>
              <a:rPr lang="hr-HR" dirty="0"/>
              <a:t>Kada pokušamo promijeniti  komponentu transparentnosti  u programskom kodu na npr. </a:t>
            </a:r>
            <a:r>
              <a:rPr lang="hr-HR" b="1" dirty="0"/>
              <a:t>0.2f</a:t>
            </a:r>
            <a:r>
              <a:rPr lang="hr-HR" dirty="0"/>
              <a:t> i pokrenemo igru vidimo da se ništa nije dogodilo </a:t>
            </a:r>
          </a:p>
          <a:p>
            <a:pPr defTabSz="357188"/>
            <a:endParaRPr lang="hr-HR" dirty="0"/>
          </a:p>
          <a:p>
            <a:pPr defTabSz="357188"/>
            <a:r>
              <a:rPr lang="hr-HR" dirty="0"/>
              <a:t>To je zato što unutar Unity-a nismo podesili da kocka ima transparentnost</a:t>
            </a:r>
          </a:p>
          <a:p>
            <a:pPr defTabSz="357188"/>
            <a:endParaRPr lang="hr-HR" dirty="0"/>
          </a:p>
          <a:p>
            <a:pPr defTabSz="357188"/>
            <a:r>
              <a:rPr lang="hr-HR" b="1" dirty="0"/>
              <a:t>Upravljanje i promjena transparentnosti  je komanda koja zahtjeva posebnu pažnju! </a:t>
            </a:r>
          </a:p>
          <a:p>
            <a:pPr defTabSz="357188"/>
            <a:endParaRPr lang="hr-HR" dirty="0"/>
          </a:p>
          <a:p>
            <a:pPr defTabSz="357188"/>
            <a:r>
              <a:rPr lang="hr-HR" dirty="0"/>
              <a:t>Kada upravljamo transparentnošću jednog objekta to ne predstavlja nikakvi problem, ali s povećanjem komponenata počinju se javljati problemi u performansama i izvedbi </a:t>
            </a:r>
          </a:p>
          <a:p>
            <a:pPr defTabSz="357188"/>
            <a:endParaRPr lang="hr-HR" dirty="0"/>
          </a:p>
          <a:p>
            <a:pPr marL="0" indent="0" defTabSz="357188">
              <a:buNone/>
            </a:pPr>
            <a:endParaRPr lang="hr-HR" dirty="0"/>
          </a:p>
          <a:p>
            <a:pPr defTabSz="357188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204489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7BB91-AE25-B11F-4FBD-AF9537D4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69B51F-B911-A227-6618-6C033872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Upravljanje transparetnošču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CE9B69-DB6F-A7BE-1D15-231CC488F1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5492162" cy="3605836"/>
          </a:xfrm>
        </p:spPr>
        <p:txBody>
          <a:bodyPr/>
          <a:lstStyle/>
          <a:p>
            <a:pPr defTabSz="357188"/>
            <a:r>
              <a:rPr lang="hr-HR" dirty="0"/>
              <a:t>U </a:t>
            </a:r>
            <a:r>
              <a:rPr lang="hr-HR" b="1" dirty="0"/>
              <a:t>Assets</a:t>
            </a:r>
            <a:r>
              <a:rPr lang="hr-HR" dirty="0"/>
              <a:t> kreiramo novu mapu </a:t>
            </a:r>
            <a:r>
              <a:rPr lang="hr-HR" b="1" dirty="0"/>
              <a:t>Materijali</a:t>
            </a:r>
            <a:r>
              <a:rPr lang="hr-HR" dirty="0"/>
              <a:t> </a:t>
            </a:r>
          </a:p>
          <a:p>
            <a:pPr defTabSz="357188"/>
            <a:endParaRPr lang="hr-HR" dirty="0"/>
          </a:p>
          <a:p>
            <a:pPr defTabSz="357188"/>
            <a:r>
              <a:rPr lang="hr-HR" dirty="0"/>
              <a:t>U mapi Materijali kreiramo novi materijal i nazovemo ga </a:t>
            </a:r>
          </a:p>
          <a:p>
            <a:pPr marL="0" indent="0" defTabSz="357188">
              <a:buNone/>
            </a:pPr>
            <a:r>
              <a:rPr lang="hr-HR" b="1" dirty="0"/>
              <a:t>KockaMaterijal</a:t>
            </a:r>
          </a:p>
          <a:p>
            <a:pPr marL="0" indent="0" defTabSz="357188">
              <a:buNone/>
            </a:pPr>
            <a:endParaRPr lang="hr-HR" dirty="0"/>
          </a:p>
          <a:p>
            <a:pPr defTabSz="357188"/>
            <a:r>
              <a:rPr lang="hr-HR" dirty="0"/>
              <a:t>Zatim taj materijal dodamo na </a:t>
            </a:r>
            <a:r>
              <a:rPr lang="hr-HR" b="1" dirty="0"/>
              <a:t>Kuglu</a:t>
            </a:r>
            <a:endParaRPr lang="hr-H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3564AF-3090-058D-A5C2-3546087A9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857" y="1042923"/>
            <a:ext cx="3635783" cy="574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BC99A6-87D1-C84D-CFCE-963D2B0B3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8" y="1861264"/>
            <a:ext cx="1338704" cy="142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99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795D-F19D-9276-3D5E-28A6760A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85B90B-A8CB-3ADC-DF4A-FD228401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materijala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5F0443-C46B-CB99-CDE2-A15AAB5BE2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5492162" cy="360583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Pronađemo </a:t>
            </a:r>
            <a:r>
              <a:rPr lang="hr-HR" b="1" dirty="0"/>
              <a:t>Mesh Renderer </a:t>
            </a:r>
            <a:r>
              <a:rPr lang="hr-HR" dirty="0"/>
              <a:t>u </a:t>
            </a:r>
            <a:r>
              <a:rPr lang="hr-HR" b="1" dirty="0"/>
              <a:t>Inspectoru</a:t>
            </a:r>
            <a:r>
              <a:rPr lang="hr-HR" dirty="0"/>
              <a:t>: </a:t>
            </a:r>
          </a:p>
          <a:p>
            <a:pPr marL="0" indent="0" defTabSz="357188">
              <a:buNone/>
            </a:pPr>
            <a:r>
              <a:rPr lang="hr-HR" dirty="0"/>
              <a:t>	-Proširimo opciju </a:t>
            </a:r>
            <a:r>
              <a:rPr lang="hr-HR" b="1" dirty="0"/>
              <a:t>Materials</a:t>
            </a:r>
          </a:p>
          <a:p>
            <a:pPr marL="0" indent="0" defTabSz="357188">
              <a:buNone/>
            </a:pPr>
            <a:r>
              <a:rPr lang="hr-HR" dirty="0"/>
              <a:t>	- Povučemo kreirani materijal na </a:t>
            </a:r>
            <a:r>
              <a:rPr lang="hr-HR" b="1" dirty="0"/>
              <a:t>Element 0</a:t>
            </a:r>
            <a:r>
              <a:rPr lang="hr-HR" dirty="0"/>
              <a:t> </a:t>
            </a:r>
          </a:p>
          <a:p>
            <a:pPr defTabSz="357188"/>
            <a:endParaRPr lang="hr-HR" dirty="0"/>
          </a:p>
          <a:p>
            <a:pPr defTabSz="357188"/>
            <a:r>
              <a:rPr lang="hr-HR" dirty="0"/>
              <a:t>Primijetimo  da se pokretanjem igre i dalje ništa ne događa kako bismo to promjeni li potrebno je odraditi sljedeće korake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132719-1083-B68A-1145-B2657A46E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71" y="1156940"/>
            <a:ext cx="2660950" cy="15070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8365D6-C6A7-1B06-C6E3-508647C25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960" y="3177827"/>
            <a:ext cx="3019269" cy="80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65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3C3D-566A-49FD-C2DB-AAA7C2BAD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1661D1-F1F6-D891-BD35-352CFED7A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materijala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D25879-E9E0-D532-2AC6-4899601458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5492162" cy="360583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Dvoklik na </a:t>
            </a:r>
            <a:r>
              <a:rPr lang="hr-HR" b="1" dirty="0"/>
              <a:t>KockaMaterijal</a:t>
            </a:r>
            <a:r>
              <a:rPr lang="hr-HR" dirty="0"/>
              <a:t> i u izborniku odaberemo  </a:t>
            </a:r>
            <a:r>
              <a:rPr lang="hr-HR" b="1" dirty="0"/>
              <a:t>Surface Option 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Pronađemo </a:t>
            </a:r>
            <a:r>
              <a:rPr lang="hr-HR" b="1" dirty="0"/>
              <a:t>Render Face </a:t>
            </a:r>
            <a:r>
              <a:rPr lang="hr-HR" dirty="0"/>
              <a:t>i promijenimo  ga u </a:t>
            </a:r>
            <a:r>
              <a:rPr lang="hr-HR" b="1" dirty="0"/>
              <a:t>Transparent </a:t>
            </a:r>
            <a:r>
              <a:rPr lang="hr-HR" dirty="0"/>
              <a:t> 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Sada to možemo testirati promjenom transparentnosti  </a:t>
            </a:r>
            <a:r>
              <a:rPr lang="hr-HR" b="1" dirty="0"/>
              <a:t>Vectora4</a:t>
            </a:r>
            <a:r>
              <a:rPr lang="hr-HR" dirty="0"/>
              <a:t>  po želji </a:t>
            </a:r>
          </a:p>
          <a:p>
            <a:pPr marL="0" indent="0" defTabSz="357188">
              <a:buNone/>
            </a:pPr>
            <a:endParaRPr lang="hr-HR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CE979-F790-B386-9310-3FD385B7D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162" y="1145147"/>
            <a:ext cx="2943827" cy="112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84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00CE0-915B-BD3F-5860-42CC3B359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ADD7-9D9B-6968-FF19-8DB238FF8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56748-5E78-87FE-27A9-E5DA8AD0BF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r-HR" dirty="0"/>
              <a:t>Reset vectora</a:t>
            </a:r>
          </a:p>
        </p:txBody>
      </p:sp>
    </p:spTree>
    <p:extLst>
      <p:ext uri="{BB962C8B-B14F-4D97-AF65-F5344CB8AC3E}">
        <p14:creationId xmlns:p14="http://schemas.microsoft.com/office/powerpoint/2010/main" val="792091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A2B3-80B0-4086-18E4-4D2F82C2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0FAB1F-F9CF-8F26-E0D3-D48C847B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Vraćanje pozicije kocke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9B6AED-F1E6-7D79-4090-31B8C7FEAD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4984543" cy="162254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Prvi način na koji je ovo moguće je definiranjem apsolutne pozicije </a:t>
            </a:r>
            <a:r>
              <a:rPr lang="hr-HR" b="1" dirty="0"/>
              <a:t>Vector3</a:t>
            </a:r>
            <a:r>
              <a:rPr lang="hr-HR" dirty="0"/>
              <a:t> pritiskom na neku tipku </a:t>
            </a:r>
          </a:p>
          <a:p>
            <a:pPr marL="0" indent="0" defTabSz="357188">
              <a:buNone/>
            </a:pPr>
            <a:r>
              <a:rPr lang="hr-HR" dirty="0"/>
              <a:t>U primjeru korištena tipka „</a:t>
            </a:r>
            <a:r>
              <a:rPr lang="hr-HR" b="1" dirty="0"/>
              <a:t>r</a:t>
            </a:r>
            <a:r>
              <a:rPr lang="hr-HR" dirty="0"/>
              <a:t>”</a:t>
            </a:r>
          </a:p>
          <a:p>
            <a:pPr marL="0" indent="0" defTabSz="357188">
              <a:buNone/>
            </a:pPr>
            <a:endParaRPr lang="hr-HR" dirty="0"/>
          </a:p>
          <a:p>
            <a:pPr marL="0" lvl="1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hr-HR" sz="1600"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OPREZ: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Snimite skriptu kako bi se ažurirale promjene</a:t>
            </a:r>
          </a:p>
          <a:p>
            <a:pPr marL="0" lvl="1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hr-HR" sz="1600" b="1" dirty="0">
                <a:solidFill>
                  <a:srgbClr val="0780C1"/>
                </a:solidFill>
                <a:latin typeface="Roboto"/>
                <a:ea typeface="Roboto"/>
                <a:cs typeface="Roboto"/>
                <a:sym typeface="Roboto"/>
              </a:rPr>
              <a:t>Testiranje: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Testirajte izvršavanje metode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Start i pritiskom tipke r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endParaRPr lang="hr-HR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75E380A-7A95-CD8F-06D3-D535498392A9}"/>
              </a:ext>
            </a:extLst>
          </p:cNvPr>
          <p:cNvSpPr txBox="1">
            <a:spLocks/>
          </p:cNvSpPr>
          <p:nvPr/>
        </p:nvSpPr>
        <p:spPr>
          <a:xfrm>
            <a:off x="509115" y="2995386"/>
            <a:ext cx="5594143" cy="1766544"/>
          </a:xfrm>
          <a:prstGeom prst="rect">
            <a:avLst/>
          </a:prstGeom>
        </p:spPr>
        <p:txBody>
          <a:bodyPr/>
          <a:lstStyle>
            <a:lvl1pPr marL="269875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1pPr>
            <a:lvl2pPr marL="539750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2pPr>
            <a:lvl3pPr marL="809625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3pPr>
            <a:lvl4pPr marL="1079500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4pPr>
            <a:lvl5pPr marL="1341438" indent="-261938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57188">
              <a:buClrTx/>
              <a:buFont typeface="Roboto" panose="02000000000000000000" pitchFamily="2" charset="0"/>
              <a:buNone/>
            </a:pPr>
            <a:endParaRPr lang="hr-HR" sz="1400" dirty="0">
              <a:solidFill>
                <a:schemeClr val="tx1">
                  <a:lumMod val="50000"/>
                </a:schemeClr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ClrTx/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Update()</a:t>
            </a:r>
          </a:p>
          <a:p>
            <a:pPr marL="0" indent="0">
              <a:buClrTx/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if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(Input.GetKey(</a:t>
            </a:r>
            <a:r>
              <a:rPr lang="hr-HR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"r"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 = </a:t>
            </a: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Vector3(0, 0, 0);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hr-HR" sz="1400" dirty="0">
              <a:solidFill>
                <a:schemeClr val="tx1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indent="0">
              <a:buClrTx/>
              <a:buFont typeface="Roboto" panose="02000000000000000000" pitchFamily="2" charset="0"/>
              <a:buNone/>
            </a:pPr>
            <a:endParaRPr lang="hr-HR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53CA95-372B-2453-BDEB-2689FD37F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399" y="1544295"/>
            <a:ext cx="3203797" cy="6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40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08145-4FE9-29B4-4C20-DD50C544F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C01217-74A7-E7CD-966E-E54B50A9C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Vraćanje pozicije kocke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75AC21-7D7B-F6BE-D5B4-A328C81973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5768314" cy="1622546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Drugi način na koji je ovo moguće je definiranjem </a:t>
            </a:r>
            <a:r>
              <a:rPr lang="hr-HR" b="1" dirty="0"/>
              <a:t>Vectro3.zero </a:t>
            </a:r>
          </a:p>
          <a:p>
            <a:pPr marL="0" indent="0" defTabSz="357188">
              <a:buNone/>
            </a:pPr>
            <a:r>
              <a:rPr lang="hr-HR" dirty="0"/>
              <a:t>Na ovaj način vraćamo  poziciju kocke na default </a:t>
            </a:r>
          </a:p>
          <a:p>
            <a:pPr marL="0" indent="0" defTabSz="357188">
              <a:buNone/>
            </a:pPr>
            <a:endParaRPr lang="hr-HR" dirty="0"/>
          </a:p>
          <a:p>
            <a:pPr marL="0" indent="0" defTabSz="357188">
              <a:buNone/>
            </a:pPr>
            <a:r>
              <a:rPr lang="hr-HR" dirty="0"/>
              <a:t>Također ako je korisno  ili ako nam se desi da je omjer kocke čudno raspoređen koristimo </a:t>
            </a:r>
            <a:r>
              <a:rPr lang="hr-HR" b="1" dirty="0"/>
              <a:t>.localScale </a:t>
            </a:r>
            <a:r>
              <a:rPr lang="hr-HR" dirty="0"/>
              <a:t>za vračanje omjera 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C242852-57E3-05F9-F26B-A96FAEBC2DCC}"/>
              </a:ext>
            </a:extLst>
          </p:cNvPr>
          <p:cNvSpPr txBox="1">
            <a:spLocks/>
          </p:cNvSpPr>
          <p:nvPr/>
        </p:nvSpPr>
        <p:spPr>
          <a:xfrm>
            <a:off x="393001" y="2796918"/>
            <a:ext cx="6755286" cy="2188739"/>
          </a:xfrm>
          <a:prstGeom prst="rect">
            <a:avLst/>
          </a:prstGeom>
        </p:spPr>
        <p:txBody>
          <a:bodyPr/>
          <a:lstStyle>
            <a:lvl1pPr marL="269875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1pPr>
            <a:lvl2pPr marL="539750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2pPr>
            <a:lvl3pPr marL="809625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3pPr>
            <a:lvl4pPr marL="1079500" indent="-269875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4pPr>
            <a:lvl5pPr marL="1341438" indent="-261938" algn="l" defTabSz="358775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Roboto" panose="02000000000000000000" pitchFamily="2" charset="0"/>
              <a:buChar char="−"/>
              <a:tabLst/>
              <a:defRPr sz="1600" kern="1200">
                <a:solidFill>
                  <a:srgbClr val="44546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57188">
              <a:buClrTx/>
              <a:buFont typeface="Roboto" panose="02000000000000000000" pitchFamily="2" charset="0"/>
              <a:buNone/>
            </a:pPr>
            <a:endParaRPr lang="hr-HR" sz="1400" dirty="0">
              <a:solidFill>
                <a:schemeClr val="tx1">
                  <a:lumMod val="5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ClrTx/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Update()</a:t>
            </a:r>
          </a:p>
          <a:p>
            <a:pPr marL="0" indent="0">
              <a:buClrTx/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if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(Input.GetKey(</a:t>
            </a:r>
            <a:r>
              <a:rPr lang="hr-HR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"r"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.transform.position = Vector3.zero; </a:t>
            </a:r>
            <a:r>
              <a:rPr lang="hr-HR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//Vector3(0, 0, 0)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pt-BR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.transform.localScale = Vector3.</a:t>
            </a: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one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endParaRPr lang="hr-HR" sz="1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r>
              <a:rPr lang="hr-H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hr-HR" sz="1400" dirty="0">
              <a:solidFill>
                <a:schemeClr val="tx1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indent="0">
              <a:buClrTx/>
              <a:buFont typeface="Roboto" panose="02000000000000000000" pitchFamily="2" charset="0"/>
              <a:buNone/>
            </a:pPr>
            <a:endParaRPr lang="hr-H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DEBBB5-C28B-70A8-A1CC-27544DDFD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428" y="1544295"/>
            <a:ext cx="3203797" cy="6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215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F486D-61D3-953A-1C4F-971C0A7C7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FF4E-2A2E-BB36-1B3A-8589BDDF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3A420-7AC5-68FA-2680-B75C1766AC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r-HR" dirty="0"/>
              <a:t>Zadatak</a:t>
            </a:r>
          </a:p>
        </p:txBody>
      </p:sp>
    </p:spTree>
    <p:extLst>
      <p:ext uri="{BB962C8B-B14F-4D97-AF65-F5344CB8AC3E}">
        <p14:creationId xmlns:p14="http://schemas.microsoft.com/office/powerpoint/2010/main" val="871711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AA6A42-B553-4C05-9053-F48A26D4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ZADATAK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DC3056-6A93-4F7A-9A13-F05074F245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r-HR" dirty="0"/>
              <a:t>Dodaj novi objekt npr </a:t>
            </a:r>
            <a:r>
              <a:rPr lang="hr-HR" b="1" dirty="0"/>
              <a:t>Quad</a:t>
            </a:r>
          </a:p>
          <a:p>
            <a:endParaRPr lang="hr-HR" dirty="0"/>
          </a:p>
          <a:p>
            <a:r>
              <a:rPr lang="hr-HR" dirty="0"/>
              <a:t>Dodaj da se koristi </a:t>
            </a:r>
            <a:r>
              <a:rPr lang="hr-HR" b="1" dirty="0"/>
              <a:t>strelice</a:t>
            </a:r>
            <a:r>
              <a:rPr lang="hr-HR" dirty="0"/>
              <a:t> </a:t>
            </a:r>
            <a:r>
              <a:rPr lang="hr-HR" b="1" dirty="0"/>
              <a:t>za pomicanje objekta </a:t>
            </a:r>
            <a:r>
              <a:rPr lang="hr-HR" dirty="0"/>
              <a:t>lijevo, desno, gore i  dolje </a:t>
            </a:r>
          </a:p>
          <a:p>
            <a:endParaRPr lang="hr-HR" dirty="0"/>
          </a:p>
          <a:p>
            <a:r>
              <a:rPr lang="hr-HR" dirty="0"/>
              <a:t>Dodaj da prilikom pritiska svake od strelica </a:t>
            </a:r>
            <a:r>
              <a:rPr lang="hr-HR" b="1" dirty="0"/>
              <a:t>scale Quad-a se promjeni </a:t>
            </a:r>
            <a:r>
              <a:rPr lang="hr-HR" dirty="0"/>
              <a:t>po želji </a:t>
            </a:r>
          </a:p>
          <a:p>
            <a:endParaRPr lang="hr-HR" dirty="0"/>
          </a:p>
          <a:p>
            <a:r>
              <a:rPr lang="hr-HR" dirty="0"/>
              <a:t>Dodaj da s na pritisak drugih tipki  </a:t>
            </a:r>
            <a:r>
              <a:rPr lang="hr-HR" b="1" dirty="0"/>
              <a:t>promjeni boja </a:t>
            </a:r>
            <a:r>
              <a:rPr lang="hr-HR" dirty="0"/>
              <a:t>elementa po želji </a:t>
            </a:r>
          </a:p>
          <a:p>
            <a:endParaRPr lang="hr-HR" dirty="0"/>
          </a:p>
          <a:p>
            <a:r>
              <a:rPr lang="hr-HR" dirty="0"/>
              <a:t>Dodaj da se </a:t>
            </a:r>
            <a:r>
              <a:rPr lang="hr-HR" b="1" dirty="0"/>
              <a:t>pritiskom tipke y </a:t>
            </a:r>
            <a:r>
              <a:rPr lang="hr-HR" dirty="0"/>
              <a:t>pozicija elementa </a:t>
            </a:r>
            <a:r>
              <a:rPr lang="hr-HR" b="1" dirty="0"/>
              <a:t>reseta</a:t>
            </a:r>
            <a:r>
              <a:rPr lang="hr-HR" dirty="0"/>
              <a:t> </a:t>
            </a:r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34380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79109-91DB-8934-F0F1-F1CA4FB47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Hintovi za zadatak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188B0-F0D5-FA58-7130-20A1B6A10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r-HR" dirty="0"/>
              <a:t>Strelice na tipkovnici se zovu : </a:t>
            </a:r>
            <a:r>
              <a:rPr lang="hr-HR" b="1" dirty="0"/>
              <a:t>UpArrow,DownArrow, RightArrow i LeftArrow </a:t>
            </a:r>
          </a:p>
          <a:p>
            <a:endParaRPr lang="hr-HR" dirty="0"/>
          </a:p>
          <a:p>
            <a:r>
              <a:rPr lang="hr-HR" dirty="0"/>
              <a:t>Za dohvaćanje inputa tipke ključan: </a:t>
            </a:r>
            <a:r>
              <a:rPr lang="hr-HR" b="1" dirty="0"/>
              <a:t>KeyCode.</a:t>
            </a:r>
          </a:p>
        </p:txBody>
      </p:sp>
    </p:spTree>
    <p:extLst>
      <p:ext uri="{BB962C8B-B14F-4D97-AF65-F5344CB8AC3E}">
        <p14:creationId xmlns:p14="http://schemas.microsoft.com/office/powerpoint/2010/main" val="7837135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127F8-7537-1ECA-8B55-D660EDB3F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C80339-D22C-6D9C-D6C5-C6864DF6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Kreiranje 3D objekta Quad 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6A2B46-D26D-4A4F-BDE4-08C7E609B4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39"/>
            <a:ext cx="8358000" cy="3727117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Font typeface="Arial"/>
              <a:buNone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Kreiranje objekta: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Prozor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hijerarhije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 – gumb u obliku znaka </a:t>
            </a: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plus</a:t>
            </a: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sz="1600" b="1" dirty="0">
                <a:latin typeface="Roboto"/>
                <a:ea typeface="Roboto"/>
                <a:cs typeface="Roboto"/>
                <a:sym typeface="Roboto"/>
              </a:rPr>
              <a:t>3D Objects </a:t>
            </a:r>
            <a:r>
              <a:rPr lang="hr-HR" sz="1600" dirty="0">
                <a:latin typeface="Roboto"/>
                <a:ea typeface="Roboto"/>
                <a:cs typeface="Roboto"/>
                <a:sym typeface="Roboto"/>
              </a:rPr>
              <a:t>&gt;</a:t>
            </a:r>
            <a:r>
              <a:rPr lang="hr-HR" b="1" dirty="0"/>
              <a:t> Quad</a:t>
            </a:r>
            <a:endParaRPr lang="hr-HR" b="1" dirty="0">
              <a:latin typeface="Roboto"/>
              <a:ea typeface="Roboto"/>
              <a:cs typeface="Roboto"/>
              <a:sym typeface="Roboto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Roboto" panose="02000000000000000000" pitchFamily="2" charset="0"/>
              <a:buChar char="−"/>
            </a:pPr>
            <a:r>
              <a:rPr lang="hr-HR" dirty="0">
                <a:latin typeface="Roboto"/>
                <a:ea typeface="Roboto"/>
                <a:cs typeface="Roboto"/>
                <a:sym typeface="Roboto"/>
              </a:rPr>
              <a:t>Preimenovanje u Kvadrat</a:t>
            </a:r>
            <a:endParaRPr lang="hr-HR" sz="1600" dirty="0">
              <a:latin typeface="Roboto"/>
              <a:ea typeface="Roboto"/>
              <a:cs typeface="Roboto"/>
              <a:sym typeface="Roboto"/>
            </a:endParaRPr>
          </a:p>
          <a:p>
            <a:pPr defTabSz="357188"/>
            <a:endParaRPr lang="hr-HR" dirty="0"/>
          </a:p>
          <a:p>
            <a:pPr defTabSz="357188"/>
            <a:endParaRPr lang="hr-HR" dirty="0"/>
          </a:p>
          <a:p>
            <a:pPr defTabSz="357188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3941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EB5D1-16F5-4E70-C73D-B68E2B56D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DD352F-E0D8-7ED4-9BAD-0C9105B6E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Povezivanje skripte za Kvadratom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13B27E-EADC-6B97-C94D-DED1DEA70E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1" y="1156939"/>
            <a:ext cx="6179250" cy="3727117"/>
          </a:xfrm>
        </p:spPr>
        <p:txBody>
          <a:bodyPr/>
          <a:lstStyle/>
          <a:p>
            <a:pPr marL="0" indent="0" defTabSz="357188">
              <a:buNone/>
            </a:pPr>
            <a:r>
              <a:rPr lang="hr-HR" dirty="0"/>
              <a:t>Pozicioniraš se na </a:t>
            </a:r>
            <a:r>
              <a:rPr lang="hr-HR" b="1" dirty="0"/>
              <a:t>Kvadrat</a:t>
            </a:r>
            <a:r>
              <a:rPr lang="hr-HR" dirty="0"/>
              <a:t> i zatim u </a:t>
            </a:r>
            <a:r>
              <a:rPr lang="hr-HR" b="1" dirty="0"/>
              <a:t>Inspector</a:t>
            </a:r>
            <a:r>
              <a:rPr lang="hr-HR" dirty="0"/>
              <a:t> prozoru odabereš sljedeće: </a:t>
            </a:r>
          </a:p>
          <a:p>
            <a:pPr defTabSz="357188"/>
            <a:r>
              <a:rPr lang="hr-HR" dirty="0"/>
              <a:t>Klikneš  na </a:t>
            </a:r>
            <a:r>
              <a:rPr lang="hr-HR" b="1" dirty="0"/>
              <a:t>Add Component </a:t>
            </a:r>
          </a:p>
          <a:p>
            <a:pPr defTabSz="357188"/>
            <a:r>
              <a:rPr lang="hr-HR" dirty="0"/>
              <a:t>Napišeš naziv kreirane skripte  </a:t>
            </a:r>
            <a:r>
              <a:rPr lang="hr-HR" b="1" dirty="0"/>
              <a:t>kvadratUpravljanje</a:t>
            </a:r>
            <a:r>
              <a:rPr lang="hr-HR" dirty="0"/>
              <a:t> </a:t>
            </a:r>
          </a:p>
          <a:p>
            <a:pPr defTabSz="357188"/>
            <a:r>
              <a:rPr lang="hr-HR" dirty="0"/>
              <a:t>I lijevi klik da se skripta otvori </a:t>
            </a:r>
          </a:p>
        </p:txBody>
      </p:sp>
    </p:spTree>
    <p:extLst>
      <p:ext uri="{BB962C8B-B14F-4D97-AF65-F5344CB8AC3E}">
        <p14:creationId xmlns:p14="http://schemas.microsoft.com/office/powerpoint/2010/main" val="23864157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9EEC9-F334-BDF0-97DE-7145E53F6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1B2878-B652-7DE9-E82F-F4E17735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kvadratUpravljanje.cs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17F3E6-46E2-E38D-2131-1F33462954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8358000" cy="4036852"/>
          </a:xfrm>
        </p:spPr>
        <p:txBody>
          <a:bodyPr/>
          <a:lstStyle/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Update()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Input.GetKey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KeyCode.UpArrow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//move up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{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Vector3(</a:t>
            </a:r>
            <a:r>
              <a:rPr lang="en-US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0.06f, 1.52f, -8.7798f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.transform.localScale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Vector3(</a:t>
            </a:r>
            <a:r>
              <a:rPr lang="en-US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0.2f,0.2f,0.2f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endParaRPr lang="hr-HR" sz="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Input.GetKey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KeyCode.DownArrow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 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//move down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{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Vector3(</a:t>
            </a:r>
            <a:r>
              <a:rPr lang="en-US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0.06f, 0.49f, -8.7798f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.transform.localScale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Vector3(</a:t>
            </a:r>
            <a:r>
              <a:rPr lang="en-US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0.3f, 0.3f, 0.3f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endParaRPr lang="hr-HR" sz="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Input.GetKey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KeyCode.RightArrow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  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//move right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{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Vector3(</a:t>
            </a:r>
            <a:r>
              <a:rPr lang="en-US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1.41f, 1.1f, -8.7798f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.transform.localScale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Vector3(</a:t>
            </a:r>
            <a:r>
              <a:rPr lang="en-US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0.1f, 0.1f, 0.1f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Input.GetKey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KeyCode.LeftArrow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  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//move left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{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Vector3(</a:t>
            </a:r>
            <a:r>
              <a:rPr lang="en-US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-1.37f, 1.1f, -8.7798f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.transform.localScale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Vector3(</a:t>
            </a:r>
            <a:r>
              <a:rPr lang="en-US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0.4f, 0.4f, 0.4f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}</a:t>
            </a:r>
            <a:endParaRPr lang="hr-HR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r-HR" sz="1000" dirty="0">
              <a:solidFill>
                <a:schemeClr val="tx1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lang="hr-HR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4590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2A8A5-B997-770D-878F-B0BE895C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24FE3B1-D524-F81A-F724-73982246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kvadratUpravljanje.cs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2FEC2-9F70-9741-7CEA-9844C39895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000" y="1156940"/>
            <a:ext cx="8358000" cy="3986560"/>
          </a:xfrm>
        </p:spPr>
        <p:txBody>
          <a:bodyPr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Input.GetKey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"c"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//promjena crveno</a:t>
            </a:r>
            <a:endParaRPr lang="en-US" sz="800" dirty="0">
              <a:solidFill>
                <a:schemeClr val="accent4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.GetComponent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&lt;Renderer&gt;().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material.color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Vector4(</a:t>
            </a:r>
            <a:r>
              <a:rPr lang="en-US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1, 0, 0, 1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hr-HR" sz="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Input.GetKey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"g"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 </a:t>
            </a:r>
            <a:r>
              <a:rPr lang="hr-HR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//promjena zeleno</a:t>
            </a:r>
            <a:endParaRPr lang="en-US" sz="8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.GetComponent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&lt;Renderer&gt;().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material.color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Vector4(</a:t>
            </a:r>
            <a:r>
              <a:rPr lang="en-US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0, 1, 0, 1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hr-HR" sz="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Input.GetKey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"b"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r-HR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//promjena plavo</a:t>
            </a:r>
            <a:endParaRPr lang="en-US" sz="8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.GetComponent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&lt;Renderer&gt;().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material.color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Vector4(</a:t>
            </a:r>
            <a:r>
              <a:rPr lang="en-US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0, 0, 1, 1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hr-HR" sz="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Input.GetKey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"x"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r>
              <a:rPr lang="hr-HR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//promjena bijelo</a:t>
            </a:r>
            <a:endParaRPr lang="en-US" sz="8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.GetComponent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&lt;Renderer&gt;().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material.color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Vector4(</a:t>
            </a:r>
            <a:r>
              <a:rPr lang="en-US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1, 1, 1, 1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hr-HR" sz="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hr-HR" sz="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(Input.GetKey(</a:t>
            </a:r>
            <a:r>
              <a:rPr lang="hr-HR" sz="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"y"</a:t>
            </a: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r>
              <a:rPr lang="hr-HR" sz="800" dirty="0">
                <a:solidFill>
                  <a:schemeClr val="accent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//promjena reset</a:t>
            </a:r>
            <a:endParaRPr lang="hr-HR" sz="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s-ES" sz="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s-ES" sz="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.transform.position</a:t>
            </a:r>
            <a:r>
              <a:rPr lang="es-ES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Vector3.zero; </a:t>
            </a:r>
            <a:r>
              <a:rPr lang="es-ES" sz="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//Vector3(0, 0, 0)</a:t>
            </a:r>
          </a:p>
          <a:p>
            <a:pPr marL="0" indent="0">
              <a:buNone/>
            </a:pPr>
            <a:r>
              <a:rPr lang="hr-HR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}</a:t>
            </a:r>
            <a:endParaRPr lang="hr-HR" sz="3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6875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027294"/>
      </p:ext>
    </p:extLst>
  </p:cSld>
  <p:clrMapOvr>
    <a:masterClrMapping/>
  </p:clrMapOvr>
</p:sld>
</file>

<file path=ppt/theme/theme1.xml><?xml version="1.0" encoding="utf-8"?>
<a:theme xmlns:a="http://schemas.openxmlformats.org/drawingml/2006/main" name="Prva">
  <a:themeElements>
    <a:clrScheme name="RRI">
      <a:dk1>
        <a:srgbClr val="474747"/>
      </a:dk1>
      <a:lt1>
        <a:sysClr val="window" lastClr="FFFFFF"/>
      </a:lt1>
      <a:dk2>
        <a:srgbClr val="44546A"/>
      </a:dk2>
      <a:lt2>
        <a:srgbClr val="E7E6E6"/>
      </a:lt2>
      <a:accent1>
        <a:srgbClr val="0780C1"/>
      </a:accent1>
      <a:accent2>
        <a:srgbClr val="E98A34"/>
      </a:accent2>
      <a:accent3>
        <a:srgbClr val="B62025"/>
      </a:accent3>
      <a:accent4>
        <a:srgbClr val="169347"/>
      </a:accent4>
      <a:accent5>
        <a:srgbClr val="B71FAC"/>
      </a:accent5>
      <a:accent6>
        <a:srgbClr val="09A9BF"/>
      </a:accent6>
      <a:hlink>
        <a:srgbClr val="0780C1"/>
      </a:hlink>
      <a:folHlink>
        <a:srgbClr val="0780C1"/>
      </a:folHlink>
    </a:clrScheme>
    <a:fontScheme name="Roboto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19762</TotalTime>
  <Words>1649</Words>
  <Application>Microsoft Office PowerPoint</Application>
  <PresentationFormat>On-screen Show (16:9)</PresentationFormat>
  <Paragraphs>297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Roboto</vt:lpstr>
      <vt:lpstr>Consolas</vt:lpstr>
      <vt:lpstr>Roboto Medium</vt:lpstr>
      <vt:lpstr>Cascadia Mono</vt:lpstr>
      <vt:lpstr>Arial</vt:lpstr>
      <vt:lpstr>Bebas Neue Bold</vt:lpstr>
      <vt:lpstr>Raleway</vt:lpstr>
      <vt:lpstr>Prva</vt:lpstr>
      <vt:lpstr>PowerPoint Presentation</vt:lpstr>
      <vt:lpstr>Vector2</vt:lpstr>
      <vt:lpstr>Kreiranje Unity projekta </vt:lpstr>
      <vt:lpstr>Kratko prilagođavanje sućelja </vt:lpstr>
      <vt:lpstr>PowerPoint Presentation</vt:lpstr>
      <vt:lpstr>Kreiranje 3D objekta kocke  </vt:lpstr>
      <vt:lpstr>Komponenta Transform </vt:lpstr>
      <vt:lpstr>PowerPoint Presentation</vt:lpstr>
      <vt:lpstr>Kreiranje skripte </vt:lpstr>
      <vt:lpstr>Povezivanje skripte za Kockom</vt:lpstr>
      <vt:lpstr>Uređivanje skripte</vt:lpstr>
      <vt:lpstr>kockaUpravljanje.cs</vt:lpstr>
      <vt:lpstr>kockaUpravljanje.cs</vt:lpstr>
      <vt:lpstr>Testiranje input fukcionalnosti - kockaUpravljanje.cs</vt:lpstr>
      <vt:lpstr>PowerPoint Presentation</vt:lpstr>
      <vt:lpstr>Pomicanje kocke po X i Y osi: </vt:lpstr>
      <vt:lpstr>PowerPoint Presentation</vt:lpstr>
      <vt:lpstr>Pomicanje kocke po X, Y, Z osi: </vt:lpstr>
      <vt:lpstr>PowerPoint Presentation</vt:lpstr>
      <vt:lpstr>Promjena boje kocke u crveno</vt:lpstr>
      <vt:lpstr>Promjena boje kocke u crveno</vt:lpstr>
      <vt:lpstr>PowerPoint Presentation</vt:lpstr>
      <vt:lpstr>Problem kod pormjene razine transparetnosti </vt:lpstr>
      <vt:lpstr>Upravljanje transparetnošču</vt:lpstr>
      <vt:lpstr>Kreiranje materijala </vt:lpstr>
      <vt:lpstr>Kreiranje materijala </vt:lpstr>
      <vt:lpstr>PowerPoint Presentation</vt:lpstr>
      <vt:lpstr>Vraćanje pozicije kocke </vt:lpstr>
      <vt:lpstr>Vraćanje pozicije kocke </vt:lpstr>
      <vt:lpstr>PowerPoint Presentation</vt:lpstr>
      <vt:lpstr>ZADATAK</vt:lpstr>
      <vt:lpstr>Hintovi za zadatak </vt:lpstr>
      <vt:lpstr>Kreiranje 3D objekta Quad  </vt:lpstr>
      <vt:lpstr>Povezivanje skripte za Kvadratom</vt:lpstr>
      <vt:lpstr>kvadratUpravljanje.cs</vt:lpstr>
      <vt:lpstr>kvadratUpravljanje.cs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Izrada VR videoigara u Unityju</dc:title>
  <dc:creator>Spunika</dc:creator>
  <cp:lastModifiedBy>Marko Sokser</cp:lastModifiedBy>
  <cp:revision>689</cp:revision>
  <dcterms:modified xsi:type="dcterms:W3CDTF">2025-01-02T12:46:10Z</dcterms:modified>
</cp:coreProperties>
</file>